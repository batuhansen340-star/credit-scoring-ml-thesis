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Batuhan Sen. This is my BA Degree Project at Istinye University. My topic is machine learning in banking: do ML models predict loan default better than the traditional method, and what is the cost of using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bank has the same problem: when someone asks for a loan, will they pay it back? For years banks used logistic regression - simple and easy to explain. Then machine learning arrived: often more accurate, but a black box. My question: how much better is ML really, and what do we lose to get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Home Credit Default Risk dataset - real, public lending data from Kaggle. More than 300,000 applications, 122 variables, and one key label: did they default or not. Only about 8 percent defaulted. This imbalance shaped almost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is never clean. I removed columns over 60 percent empty, fixed an error where some people had worked about 1000 years, imputed with the median, capped outliers, built banking ratios, and used Boruta to select 23 variables. Every step was learned only from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four models: logistic regression as baseline, against Random Forest, XGBoost and LightGBM. Imbalance handled with SMOTE inside training folds only. 5-fold cross-validation and tuning. Main metric AUC-ROC. All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stop at charts. I built a small app called AVAL that runs my credit-risk model live. The home screen shows three example applicants - an established professional, a first-time borrower, and an over-leveraged applicant - plus a button to build a custom profile. Let me walk you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new application works. The applicant enters only what they know: income, loan amount, payment, age, employment and education. The credit-bureau scores are pulled automatically - they never type those. Then one tap, apply and assess, and the model scores them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result. Elif, the strong profile, gets 0.5 percent - low risk. Deniz, the over-leveraged applicant, gets 49.3 percent - high risk. Below every score, the app explains the reasons - the same SHAP factors from my analysis. Accurate and explainable - the goal of this thesis. Let me show it for real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and the first finding was a surprise. Under SMOTE the simple logistic regression got the highest AUC, about 0.74, with the ML models slightly behind. The literature usually says boosting wins, so I did not stop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SMOTE actually damages the tree models. When I switched to class-weighting, the ranking flipped: XGBoost and LightGBM moved ahead, exactly as the literature predicts. But the advantage is tiny - about 0.006 AUC. The handling method mattered more than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opened the black box with SHAP. The external credit scores dominate predictions. The banking ratios I engineered myself, like payment rate, also ranked high - their simple correlation looked weak, but inside the model they carried real signal. Good feature engineering paid off. And these are exactly the factors you saw in AVAL, in the why-this-score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answer: yes, ML can predict default a little better, but only with the right setup. The algorithm is not the most important thing - clean data, honest imbalance handling and feature engineering matter just as much. In regulated banking, an explainable model can be worth more than a tiny gain. That is why I built AVAL - to show the model working as a clear, explainable tool, not just a number in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1047750" y="995363"/>
            <a:ext cx="438150" cy="28575"/>
          </a:xfrm>
          <a:prstGeom prst="rect">
            <a:avLst/>
          </a:prstGeom>
          <a:solidFill>
            <a:srgbClr val="1F9E8F"/>
          </a:solidFill>
          <a:ln/>
        </p:spPr>
      </p:sp>
      <p:sp>
        <p:nvSpPr>
          <p:cNvPr id="3" name="Text 1"/>
          <p:cNvSpPr/>
          <p:nvPr/>
        </p:nvSpPr>
        <p:spPr>
          <a:xfrm>
            <a:off x="1657350" y="857250"/>
            <a:ext cx="7131342" cy="342900"/>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7FD8CC"/>
                </a:solidFill>
                <a:latin typeface="Arial" pitchFamily="34" charset="0"/>
                <a:ea typeface="Arial" pitchFamily="34" charset="-122"/>
                <a:cs typeface="Arial" pitchFamily="34" charset="-120"/>
              </a:rPr>
              <a:t>İSTINYE UNIVERSITY · BA DEGREE PROJECT II</a:t>
            </a:r>
            <a:endParaRPr lang="en-US" sz="1800" dirty="0"/>
          </a:p>
        </p:txBody>
      </p:sp>
      <p:sp>
        <p:nvSpPr>
          <p:cNvPr id="4" name="Text 2"/>
          <p:cNvSpPr/>
          <p:nvPr/>
        </p:nvSpPr>
        <p:spPr>
          <a:xfrm>
            <a:off x="1047750" y="3573661"/>
            <a:ext cx="14519910" cy="2406253"/>
          </a:xfrm>
          <a:prstGeom prst="rect">
            <a:avLst/>
          </a:prstGeom>
          <a:noFill/>
          <a:ln/>
        </p:spPr>
        <p:txBody>
          <a:bodyPr wrap="square" lIns="25400" tIns="25400" rIns="25400" bIns="25400" rtlCol="0" anchor="t">
            <a:normAutofit/>
          </a:bodyPr>
          <a:lstStyle/>
          <a:p>
            <a:pPr algn="l" indent="0" marL="0">
              <a:lnSpc>
                <a:spcPct val="112000"/>
              </a:lnSpc>
              <a:buNone/>
            </a:pPr>
            <a:r>
              <a:rPr lang="en-US" sz="5550" spc="-55" kern="0" dirty="0">
                <a:solidFill>
                  <a:srgbClr val="FFFFFF"/>
                </a:solidFill>
                <a:latin typeface="Georgia" pitchFamily="34" charset="0"/>
                <a:ea typeface="Georgia" pitchFamily="34" charset="-122"/>
                <a:cs typeface="Georgia" pitchFamily="34" charset="-120"/>
              </a:rPr>
              <a:t>The Impact of Machine Learning-Based Credit Scoring Models on the Accuracy of Loan Default Prediction in Banking</a:t>
            </a:r>
            <a:endParaRPr lang="en-US" sz="5550" dirty="0"/>
          </a:p>
        </p:txBody>
      </p:sp>
      <p:sp>
        <p:nvSpPr>
          <p:cNvPr id="5" name="Text 3"/>
          <p:cNvSpPr/>
          <p:nvPr/>
        </p:nvSpPr>
        <p:spPr>
          <a:xfrm>
            <a:off x="1047750" y="6399014"/>
            <a:ext cx="1876425"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Batuhan Şen</a:t>
            </a:r>
            <a:endParaRPr lang="en-US" sz="2400" dirty="0"/>
          </a:p>
        </p:txBody>
      </p:sp>
      <p:sp>
        <p:nvSpPr>
          <p:cNvPr id="6" name="Shape 4"/>
          <p:cNvSpPr/>
          <p:nvPr/>
        </p:nvSpPr>
        <p:spPr>
          <a:xfrm>
            <a:off x="3057525" y="6570464"/>
            <a:ext cx="57150" cy="57150"/>
          </a:xfrm>
          <a:prstGeom prst="ellipse">
            <a:avLst/>
          </a:prstGeom>
          <a:solidFill>
            <a:srgbClr val="1F9E8F"/>
          </a:solidFill>
          <a:ln/>
        </p:spPr>
      </p:sp>
      <p:sp>
        <p:nvSpPr>
          <p:cNvPr id="7" name="Text 5"/>
          <p:cNvSpPr/>
          <p:nvPr/>
        </p:nvSpPr>
        <p:spPr>
          <a:xfrm>
            <a:off x="3324225" y="6437114"/>
            <a:ext cx="1619548" cy="361950"/>
          </a:xfrm>
          <a:prstGeom prst="rect">
            <a:avLst/>
          </a:prstGeom>
          <a:noFill/>
          <a:ln/>
        </p:spPr>
        <p:txBody>
          <a:bodyPr wrap="square" lIns="25400" tIns="25400" rIns="25400" bIns="25400" rtlCol="0" anchor="t">
            <a:normAutofit/>
          </a:bodyPr>
          <a:lstStyle/>
          <a:p>
            <a:pPr algn="l" indent="0" marL="0">
              <a:buNone/>
            </a:pPr>
            <a:r>
              <a:rPr lang="en-US" sz="2250" dirty="0">
                <a:solidFill>
                  <a:srgbClr val="7FD8CC"/>
                </a:solidFill>
                <a:latin typeface="Courier New" pitchFamily="34" charset="0"/>
                <a:ea typeface="Courier New" pitchFamily="34" charset="-122"/>
                <a:cs typeface="Courier New" pitchFamily="34" charset="-120"/>
              </a:rPr>
              <a:t>200527078</a:t>
            </a:r>
            <a:endParaRPr lang="en-US" sz="2250" dirty="0"/>
          </a:p>
        </p:txBody>
      </p:sp>
      <p:sp>
        <p:nvSpPr>
          <p:cNvPr id="8" name="Shape 6"/>
          <p:cNvSpPr/>
          <p:nvPr/>
        </p:nvSpPr>
        <p:spPr>
          <a:xfrm>
            <a:off x="1047750" y="9210675"/>
            <a:ext cx="16192500" cy="9525"/>
          </a:xfrm>
          <a:prstGeom prst="rect">
            <a:avLst/>
          </a:prstGeom>
          <a:solidFill>
            <a:srgbClr val="FFFFFF">
              <a:alpha val="16000"/>
            </a:srgbClr>
          </a:solidFill>
          <a:ln/>
        </p:spPr>
      </p:sp>
      <p:sp>
        <p:nvSpPr>
          <p:cNvPr id="9" name="Text 7"/>
          <p:cNvSpPr/>
          <p:nvPr/>
        </p:nvSpPr>
        <p:spPr>
          <a:xfrm>
            <a:off x="1047750" y="94678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55000"/>
                  </a:srgbClr>
                </a:solidFill>
                <a:latin typeface="Arial" pitchFamily="34" charset="0"/>
                <a:ea typeface="Arial" pitchFamily="34" charset="-122"/>
                <a:cs typeface="Arial" pitchFamily="34" charset="-120"/>
              </a:rPr>
              <a:t>Batuhan Şen · 200527078 · İstinye University</a:t>
            </a:r>
            <a:endParaRPr lang="en-US" sz="1800" dirty="0"/>
          </a:p>
        </p:txBody>
      </p:sp>
      <p:sp>
        <p:nvSpPr>
          <p:cNvPr id="10" name="Text 8"/>
          <p:cNvSpPr/>
          <p:nvPr/>
        </p:nvSpPr>
        <p:spPr>
          <a:xfrm>
            <a:off x="16965811" y="94488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FC3B2"/>
                </a:solidFill>
                <a:latin typeface="Courier New" pitchFamily="34" charset="0"/>
                <a:ea typeface="Courier New" pitchFamily="34" charset="-122"/>
                <a:cs typeface="Courier New" pitchFamily="34" charset="-120"/>
              </a:rPr>
              <a:t>01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THE QUESTION</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The problem &amp; research question</a:t>
            </a:r>
            <a:endParaRPr lang="en-US" sz="4350" dirty="0"/>
          </a:p>
        </p:txBody>
      </p:sp>
      <p:sp>
        <p:nvSpPr>
          <p:cNvPr id="4" name="Text 2"/>
          <p:cNvSpPr/>
          <p:nvPr/>
        </p:nvSpPr>
        <p:spPr>
          <a:xfrm>
            <a:off x="952500" y="2997845"/>
            <a:ext cx="14716125" cy="500955"/>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3A4658"/>
                </a:solidFill>
                <a:latin typeface="Arial" pitchFamily="34" charset="0"/>
                <a:ea typeface="Arial" pitchFamily="34" charset="-122"/>
                <a:cs typeface="Arial" pitchFamily="34" charset="-120"/>
              </a:rPr>
              <a:t>When someone asks for a loan, the bank must predict one thing: </a:t>
            </a:r>
            <a:pPr algn="l" indent="0" marL="0">
              <a:lnSpc>
                <a:spcPct val="140000"/>
              </a:lnSpc>
              <a:buNone/>
            </a:pPr>
            <a:r>
              <a:rPr lang="en-US" sz="2550" b="1" dirty="0">
                <a:solidFill>
                  <a:srgbClr val="16243F"/>
                </a:solidFill>
                <a:latin typeface="Arial" pitchFamily="34" charset="0"/>
                <a:ea typeface="Arial" pitchFamily="34" charset="-122"/>
                <a:cs typeface="Arial" pitchFamily="34" charset="-120"/>
              </a:rPr>
              <a:t>will this customer repay?</a:t>
            </a:r>
            <a:endParaRPr lang="en-US" sz="2550" dirty="0"/>
          </a:p>
        </p:txBody>
      </p:sp>
      <p:sp>
        <p:nvSpPr>
          <p:cNvPr id="5" name="Shape 3"/>
          <p:cNvSpPr/>
          <p:nvPr/>
        </p:nvSpPr>
        <p:spPr>
          <a:xfrm>
            <a:off x="952500" y="3784550"/>
            <a:ext cx="8048625" cy="2450604"/>
          </a:xfrm>
          <a:prstGeom prst="roundRect">
            <a:avLst>
              <a:gd name="adj" fmla="val 5442"/>
            </a:avLst>
          </a:prstGeom>
          <a:solidFill>
            <a:srgbClr val="F5F7FA"/>
          </a:solidFill>
          <a:ln/>
        </p:spPr>
      </p:sp>
      <p:sp>
        <p:nvSpPr>
          <p:cNvPr id="6" name="Shape 4"/>
          <p:cNvSpPr/>
          <p:nvPr/>
        </p:nvSpPr>
        <p:spPr>
          <a:xfrm>
            <a:off x="952500" y="6225629"/>
            <a:ext cx="8048625" cy="9525"/>
          </a:xfrm>
          <a:prstGeom prst="rect">
            <a:avLst/>
          </a:prstGeom>
          <a:solidFill>
            <a:srgbClr val="E2E7EE"/>
          </a:solidFill>
          <a:ln/>
        </p:spPr>
      </p:sp>
      <p:sp>
        <p:nvSpPr>
          <p:cNvPr id="7" name="Shape 5"/>
          <p:cNvSpPr/>
          <p:nvPr/>
        </p:nvSpPr>
        <p:spPr>
          <a:xfrm>
            <a:off x="952500" y="3784550"/>
            <a:ext cx="8048625" cy="38100"/>
          </a:xfrm>
          <a:prstGeom prst="rect">
            <a:avLst/>
          </a:prstGeom>
          <a:solidFill>
            <a:srgbClr val="16243F"/>
          </a:solidFill>
          <a:ln/>
        </p:spPr>
      </p:sp>
      <p:sp>
        <p:nvSpPr>
          <p:cNvPr id="8" name="Shape 6"/>
          <p:cNvSpPr/>
          <p:nvPr/>
        </p:nvSpPr>
        <p:spPr>
          <a:xfrm>
            <a:off x="952500" y="3784550"/>
            <a:ext cx="9525" cy="2450604"/>
          </a:xfrm>
          <a:prstGeom prst="rect">
            <a:avLst/>
          </a:prstGeom>
          <a:solidFill>
            <a:srgbClr val="E2E7EE"/>
          </a:solidFill>
          <a:ln/>
        </p:spPr>
      </p:sp>
      <p:sp>
        <p:nvSpPr>
          <p:cNvPr id="9" name="Shape 7"/>
          <p:cNvSpPr/>
          <p:nvPr/>
        </p:nvSpPr>
        <p:spPr>
          <a:xfrm>
            <a:off x="8991600" y="3784550"/>
            <a:ext cx="9525" cy="2450604"/>
          </a:xfrm>
          <a:prstGeom prst="rect">
            <a:avLst/>
          </a:prstGeom>
          <a:solidFill>
            <a:srgbClr val="E2E7EE"/>
          </a:solidFill>
          <a:ln/>
        </p:spPr>
      </p:sp>
      <p:sp>
        <p:nvSpPr>
          <p:cNvPr id="10" name="Text 8"/>
          <p:cNvSpPr/>
          <p:nvPr/>
        </p:nvSpPr>
        <p:spPr>
          <a:xfrm>
            <a:off x="1304925" y="4146500"/>
            <a:ext cx="7564088"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5B6B82"/>
                </a:solidFill>
                <a:latin typeface="Arial" pitchFamily="34" charset="0"/>
                <a:ea typeface="Arial" pitchFamily="34" charset="-122"/>
                <a:cs typeface="Arial" pitchFamily="34" charset="-120"/>
              </a:rPr>
              <a:t>TRADITIONAL</a:t>
            </a:r>
            <a:endParaRPr lang="en-US" sz="1800" dirty="0"/>
          </a:p>
        </p:txBody>
      </p:sp>
      <p:sp>
        <p:nvSpPr>
          <p:cNvPr id="11" name="Text 9"/>
          <p:cNvSpPr/>
          <p:nvPr/>
        </p:nvSpPr>
        <p:spPr>
          <a:xfrm>
            <a:off x="1304925" y="4584650"/>
            <a:ext cx="7564088"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16243F"/>
                </a:solidFill>
                <a:latin typeface="Arial" pitchFamily="34" charset="0"/>
                <a:ea typeface="Arial" pitchFamily="34" charset="-122"/>
                <a:cs typeface="Arial" pitchFamily="34" charset="-120"/>
              </a:rPr>
              <a:t>Logistic Regression</a:t>
            </a:r>
            <a:endParaRPr lang="en-US" sz="2550" dirty="0"/>
          </a:p>
        </p:txBody>
      </p:sp>
      <p:sp>
        <p:nvSpPr>
          <p:cNvPr id="12" name="Text 10"/>
          <p:cNvSpPr/>
          <p:nvPr/>
        </p:nvSpPr>
        <p:spPr>
          <a:xfrm>
            <a:off x="1304925" y="5156150"/>
            <a:ext cx="7564088" cy="783729"/>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3A4658"/>
                </a:solidFill>
                <a:latin typeface="Arial" pitchFamily="34" charset="0"/>
                <a:ea typeface="Arial" pitchFamily="34" charset="-122"/>
                <a:cs typeface="Arial" pitchFamily="34" charset="-120"/>
              </a:rPr>
              <a:t>Simple, transparent, and easy to explain — the standard that regulators accept.</a:t>
            </a:r>
            <a:endParaRPr lang="en-US" sz="2025" dirty="0"/>
          </a:p>
        </p:txBody>
      </p:sp>
      <p:sp>
        <p:nvSpPr>
          <p:cNvPr id="13" name="Shape 11"/>
          <p:cNvSpPr/>
          <p:nvPr/>
        </p:nvSpPr>
        <p:spPr>
          <a:xfrm>
            <a:off x="9286875" y="3784550"/>
            <a:ext cx="8048625" cy="2450604"/>
          </a:xfrm>
          <a:prstGeom prst="roundRect">
            <a:avLst>
              <a:gd name="adj" fmla="val 5442"/>
            </a:avLst>
          </a:prstGeom>
          <a:solidFill>
            <a:srgbClr val="F5F7FA"/>
          </a:solidFill>
          <a:ln/>
        </p:spPr>
      </p:sp>
      <p:sp>
        <p:nvSpPr>
          <p:cNvPr id="14" name="Shape 12"/>
          <p:cNvSpPr/>
          <p:nvPr/>
        </p:nvSpPr>
        <p:spPr>
          <a:xfrm>
            <a:off x="9286875" y="6225629"/>
            <a:ext cx="8048625" cy="9525"/>
          </a:xfrm>
          <a:prstGeom prst="rect">
            <a:avLst/>
          </a:prstGeom>
          <a:solidFill>
            <a:srgbClr val="E2E7EE"/>
          </a:solidFill>
          <a:ln/>
        </p:spPr>
      </p:sp>
      <p:sp>
        <p:nvSpPr>
          <p:cNvPr id="15" name="Shape 13"/>
          <p:cNvSpPr/>
          <p:nvPr/>
        </p:nvSpPr>
        <p:spPr>
          <a:xfrm>
            <a:off x="9286875" y="3784550"/>
            <a:ext cx="8048625" cy="38100"/>
          </a:xfrm>
          <a:prstGeom prst="rect">
            <a:avLst/>
          </a:prstGeom>
          <a:solidFill>
            <a:srgbClr val="1F9E8F"/>
          </a:solidFill>
          <a:ln/>
        </p:spPr>
      </p:sp>
      <p:sp>
        <p:nvSpPr>
          <p:cNvPr id="16" name="Shape 14"/>
          <p:cNvSpPr/>
          <p:nvPr/>
        </p:nvSpPr>
        <p:spPr>
          <a:xfrm>
            <a:off x="9286875" y="3784550"/>
            <a:ext cx="9525" cy="2450604"/>
          </a:xfrm>
          <a:prstGeom prst="rect">
            <a:avLst/>
          </a:prstGeom>
          <a:solidFill>
            <a:srgbClr val="E2E7EE"/>
          </a:solidFill>
          <a:ln/>
        </p:spPr>
      </p:sp>
      <p:sp>
        <p:nvSpPr>
          <p:cNvPr id="17" name="Shape 15"/>
          <p:cNvSpPr/>
          <p:nvPr/>
        </p:nvSpPr>
        <p:spPr>
          <a:xfrm>
            <a:off x="17325975" y="3784550"/>
            <a:ext cx="9525" cy="2450604"/>
          </a:xfrm>
          <a:prstGeom prst="rect">
            <a:avLst/>
          </a:prstGeom>
          <a:solidFill>
            <a:srgbClr val="E2E7EE"/>
          </a:solidFill>
          <a:ln/>
        </p:spPr>
      </p:sp>
      <p:sp>
        <p:nvSpPr>
          <p:cNvPr id="18" name="Text 16"/>
          <p:cNvSpPr/>
          <p:nvPr/>
        </p:nvSpPr>
        <p:spPr>
          <a:xfrm>
            <a:off x="9639300" y="4146500"/>
            <a:ext cx="7564088"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5B6B82"/>
                </a:solidFill>
                <a:latin typeface="Arial" pitchFamily="34" charset="0"/>
                <a:ea typeface="Arial" pitchFamily="34" charset="-122"/>
                <a:cs typeface="Arial" pitchFamily="34" charset="-120"/>
              </a:rPr>
              <a:t>NEWER</a:t>
            </a:r>
            <a:endParaRPr lang="en-US" sz="1800" dirty="0"/>
          </a:p>
        </p:txBody>
      </p:sp>
      <p:sp>
        <p:nvSpPr>
          <p:cNvPr id="19" name="Text 17"/>
          <p:cNvSpPr/>
          <p:nvPr/>
        </p:nvSpPr>
        <p:spPr>
          <a:xfrm>
            <a:off x="9639300" y="4584650"/>
            <a:ext cx="7564088"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16243F"/>
                </a:solidFill>
                <a:latin typeface="Arial" pitchFamily="34" charset="0"/>
                <a:ea typeface="Arial" pitchFamily="34" charset="-122"/>
                <a:cs typeface="Arial" pitchFamily="34" charset="-120"/>
              </a:rPr>
              <a:t>Machine Learning</a:t>
            </a:r>
            <a:endParaRPr lang="en-US" sz="2550" dirty="0"/>
          </a:p>
        </p:txBody>
      </p:sp>
      <p:sp>
        <p:nvSpPr>
          <p:cNvPr id="20" name="Text 18"/>
          <p:cNvSpPr/>
          <p:nvPr/>
        </p:nvSpPr>
        <p:spPr>
          <a:xfrm>
            <a:off x="9639300" y="5156150"/>
            <a:ext cx="7564088" cy="429964"/>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3A4658"/>
                </a:solidFill>
                <a:latin typeface="Arial" pitchFamily="34" charset="0"/>
                <a:ea typeface="Arial" pitchFamily="34" charset="-122"/>
                <a:cs typeface="Arial" pitchFamily="34" charset="-120"/>
              </a:rPr>
              <a:t>Often more accurate, but a “black box” — hard to explain </a:t>
            </a:r>
            <a:pPr algn="l" indent="0" marL="0">
              <a:lnSpc>
                <a:spcPct val="145000"/>
              </a:lnSpc>
              <a:buNone/>
            </a:pPr>
            <a:r>
              <a:rPr lang="en-US" sz="2025" i="1" dirty="0">
                <a:solidFill>
                  <a:srgbClr val="3A4658"/>
                </a:solidFill>
                <a:latin typeface="Arial" pitchFamily="34" charset="0"/>
                <a:ea typeface="Arial" pitchFamily="34" charset="-122"/>
                <a:cs typeface="Arial" pitchFamily="34" charset="-120"/>
              </a:rPr>
              <a:t>why</a:t>
            </a:r>
            <a:pPr algn="l" indent="0" marL="0">
              <a:lnSpc>
                <a:spcPct val="145000"/>
              </a:lnSpc>
              <a:buNone/>
            </a:pPr>
            <a:r>
              <a:rPr lang="en-US" sz="2025" dirty="0">
                <a:solidFill>
                  <a:srgbClr val="3A4658"/>
                </a:solidFill>
                <a:latin typeface="Arial" pitchFamily="34" charset="0"/>
                <a:ea typeface="Arial" pitchFamily="34" charset="-122"/>
                <a:cs typeface="Arial" pitchFamily="34" charset="-120"/>
              </a:rPr>
              <a:t>.</a:t>
            </a:r>
            <a:endParaRPr lang="en-US" sz="2025" dirty="0"/>
          </a:p>
        </p:txBody>
      </p:sp>
      <p:sp>
        <p:nvSpPr>
          <p:cNvPr id="21" name="Shape 19"/>
          <p:cNvSpPr/>
          <p:nvPr/>
        </p:nvSpPr>
        <p:spPr>
          <a:xfrm>
            <a:off x="952500" y="6559004"/>
            <a:ext cx="16383000" cy="1395859"/>
          </a:xfrm>
          <a:prstGeom prst="roundRect">
            <a:avLst>
              <a:gd name="adj" fmla="val 9553"/>
            </a:avLst>
          </a:prstGeom>
          <a:solidFill>
            <a:srgbClr val="16243F"/>
          </a:solidFill>
          <a:ln/>
        </p:spPr>
      </p:sp>
      <p:sp>
        <p:nvSpPr>
          <p:cNvPr id="22" name="Text 20"/>
          <p:cNvSpPr/>
          <p:nvPr/>
        </p:nvSpPr>
        <p:spPr>
          <a:xfrm>
            <a:off x="1333500" y="6844754"/>
            <a:ext cx="1608963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FC3B2"/>
                </a:solidFill>
                <a:latin typeface="Arial" pitchFamily="34" charset="0"/>
                <a:ea typeface="Arial" pitchFamily="34" charset="-122"/>
                <a:cs typeface="Arial" pitchFamily="34" charset="-120"/>
              </a:rPr>
              <a:t>RESEARCH QUESTION</a:t>
            </a:r>
            <a:endParaRPr lang="en-US" sz="1800" dirty="0"/>
          </a:p>
        </p:txBody>
      </p:sp>
      <p:sp>
        <p:nvSpPr>
          <p:cNvPr id="23" name="Text 21"/>
          <p:cNvSpPr/>
          <p:nvPr/>
        </p:nvSpPr>
        <p:spPr>
          <a:xfrm>
            <a:off x="1333500" y="7244804"/>
            <a:ext cx="16089630" cy="462409"/>
          </a:xfrm>
          <a:prstGeom prst="rect">
            <a:avLst/>
          </a:prstGeom>
          <a:noFill/>
          <a:ln/>
        </p:spPr>
        <p:txBody>
          <a:bodyPr wrap="square" lIns="25400" tIns="25400" rIns="25400" bIns="25400" rtlCol="0" anchor="t">
            <a:normAutofit/>
          </a:bodyPr>
          <a:lstStyle/>
          <a:p>
            <a:pPr algn="l" indent="0" marL="0">
              <a:lnSpc>
                <a:spcPct val="135000"/>
              </a:lnSpc>
              <a:buNone/>
            </a:pPr>
            <a:r>
              <a:rPr lang="en-US" sz="2475" i="1" dirty="0">
                <a:solidFill>
                  <a:srgbClr val="FFFFFF"/>
                </a:solidFill>
                <a:latin typeface="Georgia" pitchFamily="34" charset="0"/>
                <a:ea typeface="Georgia" pitchFamily="34" charset="-122"/>
                <a:cs typeface="Georgia" pitchFamily="34" charset="-120"/>
              </a:rPr>
              <a:t>How much do ML models improve default prediction over logistic regression — and at what cost?</a:t>
            </a:r>
            <a:endParaRPr lang="en-US" sz="2475" dirty="0"/>
          </a:p>
        </p:txBody>
      </p:sp>
      <p:sp>
        <p:nvSpPr>
          <p:cNvPr id="24" name="Shape 22"/>
          <p:cNvSpPr/>
          <p:nvPr/>
        </p:nvSpPr>
        <p:spPr>
          <a:xfrm>
            <a:off x="952500" y="9267825"/>
            <a:ext cx="16383000" cy="9525"/>
          </a:xfrm>
          <a:prstGeom prst="rect">
            <a:avLst/>
          </a:prstGeom>
          <a:solidFill>
            <a:srgbClr val="E2E7EE"/>
          </a:solidFill>
          <a:ln/>
        </p:spPr>
      </p:sp>
      <p:sp>
        <p:nvSpPr>
          <p:cNvPr id="25" name="Text 23"/>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26" name="Text 24"/>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THE DATASET</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Home Credit Default Risk</a:t>
            </a:r>
            <a:endParaRPr lang="en-US" sz="4350" dirty="0"/>
          </a:p>
        </p:txBody>
      </p:sp>
      <p:sp>
        <p:nvSpPr>
          <p:cNvPr id="4" name="Text 2"/>
          <p:cNvSpPr/>
          <p:nvPr/>
        </p:nvSpPr>
        <p:spPr>
          <a:xfrm>
            <a:off x="952500" y="3080147"/>
            <a:ext cx="1916460" cy="609600"/>
          </a:xfrm>
          <a:prstGeom prst="rect">
            <a:avLst/>
          </a:prstGeom>
          <a:noFill/>
          <a:ln/>
        </p:spPr>
        <p:txBody>
          <a:bodyPr wrap="square" lIns="25400" tIns="25400" rIns="25400" bIns="25400" rtlCol="0" anchor="t">
            <a:normAutofit/>
          </a:bodyPr>
          <a:lstStyle/>
          <a:p>
            <a:pPr algn="l" indent="0" marL="0">
              <a:buNone/>
            </a:pPr>
            <a:r>
              <a:rPr lang="en-US" sz="3450" b="1" dirty="0">
                <a:solidFill>
                  <a:srgbClr val="16243F"/>
                </a:solidFill>
                <a:latin typeface="Courier New" pitchFamily="34" charset="0"/>
                <a:ea typeface="Courier New" pitchFamily="34" charset="-122"/>
                <a:cs typeface="Courier New" pitchFamily="34" charset="-120"/>
              </a:rPr>
              <a:t>307,511</a:t>
            </a:r>
            <a:endParaRPr lang="en-US" sz="3450" dirty="0"/>
          </a:p>
        </p:txBody>
      </p:sp>
      <p:sp>
        <p:nvSpPr>
          <p:cNvPr id="5" name="Text 3"/>
          <p:cNvSpPr/>
          <p:nvPr/>
        </p:nvSpPr>
        <p:spPr>
          <a:xfrm>
            <a:off x="2945160" y="3289697"/>
            <a:ext cx="2063055" cy="342900"/>
          </a:xfrm>
          <a:prstGeom prst="rect">
            <a:avLst/>
          </a:prstGeom>
          <a:noFill/>
          <a:ln/>
        </p:spPr>
        <p:txBody>
          <a:bodyPr wrap="square" lIns="25400" tIns="25400" rIns="25400" bIns="25400" rtlCol="0" anchor="t">
            <a:normAutofit/>
          </a:bodyPr>
          <a:lstStyle/>
          <a:p>
            <a:pPr algn="l" indent="0" marL="0">
              <a:buNone/>
            </a:pPr>
            <a:r>
              <a:rPr lang="en-US" sz="2100" dirty="0">
                <a:solidFill>
                  <a:srgbClr val="5B6B82"/>
                </a:solidFill>
                <a:latin typeface="Arial" pitchFamily="34" charset="0"/>
                <a:ea typeface="Arial" pitchFamily="34" charset="-122"/>
                <a:cs typeface="Arial" pitchFamily="34" charset="-120"/>
              </a:rPr>
              <a:t>loan applications</a:t>
            </a:r>
            <a:endParaRPr lang="en-US" sz="2100" dirty="0"/>
          </a:p>
        </p:txBody>
      </p:sp>
      <p:sp>
        <p:nvSpPr>
          <p:cNvPr id="6" name="Text 4"/>
          <p:cNvSpPr/>
          <p:nvPr/>
        </p:nvSpPr>
        <p:spPr>
          <a:xfrm>
            <a:off x="952500" y="3899297"/>
            <a:ext cx="864989" cy="609600"/>
          </a:xfrm>
          <a:prstGeom prst="rect">
            <a:avLst/>
          </a:prstGeom>
          <a:noFill/>
          <a:ln/>
        </p:spPr>
        <p:txBody>
          <a:bodyPr wrap="square" lIns="25400" tIns="25400" rIns="25400" bIns="25400" rtlCol="0" anchor="t">
            <a:normAutofit/>
          </a:bodyPr>
          <a:lstStyle/>
          <a:p>
            <a:pPr algn="l" indent="0" marL="0">
              <a:buNone/>
            </a:pPr>
            <a:r>
              <a:rPr lang="en-US" sz="3450" b="1" dirty="0">
                <a:solidFill>
                  <a:srgbClr val="16243F"/>
                </a:solidFill>
                <a:latin typeface="Courier New" pitchFamily="34" charset="0"/>
                <a:ea typeface="Courier New" pitchFamily="34" charset="-122"/>
                <a:cs typeface="Courier New" pitchFamily="34" charset="-120"/>
              </a:rPr>
              <a:t>122</a:t>
            </a:r>
            <a:endParaRPr lang="en-US" sz="3450" dirty="0"/>
          </a:p>
        </p:txBody>
      </p:sp>
      <p:sp>
        <p:nvSpPr>
          <p:cNvPr id="7" name="Text 5"/>
          <p:cNvSpPr/>
          <p:nvPr/>
        </p:nvSpPr>
        <p:spPr>
          <a:xfrm>
            <a:off x="1893689" y="4108847"/>
            <a:ext cx="2748696" cy="342900"/>
          </a:xfrm>
          <a:prstGeom prst="rect">
            <a:avLst/>
          </a:prstGeom>
          <a:noFill/>
          <a:ln/>
        </p:spPr>
        <p:txBody>
          <a:bodyPr wrap="square" lIns="25400" tIns="25400" rIns="25400" bIns="25400" rtlCol="0" anchor="t">
            <a:normAutofit/>
          </a:bodyPr>
          <a:lstStyle/>
          <a:p>
            <a:pPr algn="l" indent="0" marL="0">
              <a:buNone/>
            </a:pPr>
            <a:r>
              <a:rPr lang="en-US" sz="2100" dirty="0">
                <a:solidFill>
                  <a:srgbClr val="5B6B82"/>
                </a:solidFill>
                <a:latin typeface="Arial" pitchFamily="34" charset="0"/>
                <a:ea typeface="Arial" pitchFamily="34" charset="-122"/>
                <a:cs typeface="Arial" pitchFamily="34" charset="-120"/>
              </a:rPr>
              <a:t>variables per applicant</a:t>
            </a:r>
            <a:endParaRPr lang="en-US" sz="2100" dirty="0"/>
          </a:p>
        </p:txBody>
      </p:sp>
      <p:sp>
        <p:nvSpPr>
          <p:cNvPr id="8" name="Shape 6"/>
          <p:cNvSpPr/>
          <p:nvPr/>
        </p:nvSpPr>
        <p:spPr>
          <a:xfrm>
            <a:off x="952500" y="4775597"/>
            <a:ext cx="7499152" cy="9525"/>
          </a:xfrm>
          <a:prstGeom prst="rect">
            <a:avLst/>
          </a:prstGeom>
          <a:solidFill>
            <a:srgbClr val="E2E7EE"/>
          </a:solidFill>
          <a:ln/>
        </p:spPr>
      </p:sp>
      <p:sp>
        <p:nvSpPr>
          <p:cNvPr id="9" name="Text 7"/>
          <p:cNvSpPr/>
          <p:nvPr/>
        </p:nvSpPr>
        <p:spPr>
          <a:xfrm>
            <a:off x="952500" y="5089922"/>
            <a:ext cx="7724126" cy="848618"/>
          </a:xfrm>
          <a:prstGeom prst="rect">
            <a:avLst/>
          </a:prstGeom>
          <a:noFill/>
          <a:ln/>
        </p:spPr>
        <p:txBody>
          <a:bodyPr wrap="square" lIns="25400" tIns="25400" rIns="25400" bIns="25400" rtlCol="0" anchor="t">
            <a:normAutofit/>
          </a:bodyPr>
          <a:lstStyle/>
          <a:p>
            <a:pPr algn="l" indent="0" marL="0">
              <a:lnSpc>
                <a:spcPct val="145000"/>
              </a:lnSpc>
              <a:buNone/>
            </a:pPr>
            <a:r>
              <a:rPr lang="en-US" sz="2175" dirty="0">
                <a:solidFill>
                  <a:srgbClr val="3A4658"/>
                </a:solidFill>
                <a:latin typeface="Arial" pitchFamily="34" charset="0"/>
                <a:ea typeface="Arial" pitchFamily="34" charset="-122"/>
                <a:cs typeface="Arial" pitchFamily="34" charset="-120"/>
              </a:rPr>
              <a:t>Real, public lending data from </a:t>
            </a:r>
            <a:pPr algn="l" indent="0" marL="0">
              <a:lnSpc>
                <a:spcPct val="145000"/>
              </a:lnSpc>
              <a:buNone/>
            </a:pPr>
            <a:r>
              <a:rPr lang="en-US" sz="2175" b="1" dirty="0">
                <a:solidFill>
                  <a:srgbClr val="16243F"/>
                </a:solidFill>
                <a:latin typeface="Arial" pitchFamily="34" charset="0"/>
                <a:ea typeface="Arial" pitchFamily="34" charset="-122"/>
                <a:cs typeface="Arial" pitchFamily="34" charset="-120"/>
              </a:rPr>
              <a:t>Kaggle </a:t>
            </a:r>
            <a:pPr algn="l" indent="0" marL="0">
              <a:lnSpc>
                <a:spcPct val="145000"/>
              </a:lnSpc>
              <a:buNone/>
            </a:pPr>
            <a:r>
              <a:rPr lang="en-US" sz="2175" dirty="0">
                <a:solidFill>
                  <a:srgbClr val="3A4658"/>
                </a:solidFill>
                <a:latin typeface="Arial" pitchFamily="34" charset="0"/>
                <a:ea typeface="Arial" pitchFamily="34" charset="-122"/>
                <a:cs typeface="Arial" pitchFamily="34" charset="-120"/>
              </a:rPr>
              <a:t>— downloaded directly under the competition rules.</a:t>
            </a:r>
            <a:endParaRPr lang="en-US" sz="2175" dirty="0"/>
          </a:p>
        </p:txBody>
      </p:sp>
      <p:sp>
        <p:nvSpPr>
          <p:cNvPr id="10" name="Text 8"/>
          <p:cNvSpPr/>
          <p:nvPr/>
        </p:nvSpPr>
        <p:spPr>
          <a:xfrm>
            <a:off x="952500" y="6148090"/>
            <a:ext cx="7724126" cy="448121"/>
          </a:xfrm>
          <a:prstGeom prst="rect">
            <a:avLst/>
          </a:prstGeom>
          <a:noFill/>
          <a:ln/>
        </p:spPr>
        <p:txBody>
          <a:bodyPr wrap="square" lIns="25400" tIns="25400" rIns="25400" bIns="25400" rtlCol="0" anchor="t">
            <a:normAutofit/>
          </a:bodyPr>
          <a:lstStyle/>
          <a:p>
            <a:pPr algn="l" indent="0" marL="0">
              <a:lnSpc>
                <a:spcPct val="145000"/>
              </a:lnSpc>
              <a:buNone/>
            </a:pPr>
            <a:r>
              <a:rPr lang="en-US" sz="2175" dirty="0">
                <a:solidFill>
                  <a:srgbClr val="3A4658"/>
                </a:solidFill>
                <a:latin typeface="Arial" pitchFamily="34" charset="0"/>
                <a:ea typeface="Arial" pitchFamily="34" charset="-122"/>
                <a:cs typeface="Arial" pitchFamily="34" charset="-120"/>
              </a:rPr>
              <a:t>One key label per customer: </a:t>
            </a:r>
            <a:pPr algn="l" indent="0" marL="0">
              <a:lnSpc>
                <a:spcPct val="145000"/>
              </a:lnSpc>
              <a:buNone/>
            </a:pPr>
            <a:r>
              <a:rPr lang="en-US" sz="2175" b="1" dirty="0">
                <a:solidFill>
                  <a:srgbClr val="16243F"/>
                </a:solidFill>
                <a:latin typeface="Arial" pitchFamily="34" charset="0"/>
                <a:ea typeface="Arial" pitchFamily="34" charset="-122"/>
                <a:cs typeface="Arial" pitchFamily="34" charset="-120"/>
              </a:rPr>
              <a:t>default (1) </a:t>
            </a:r>
            <a:pPr algn="l" indent="0" marL="0">
              <a:lnSpc>
                <a:spcPct val="145000"/>
              </a:lnSpc>
              <a:buNone/>
            </a:pPr>
            <a:r>
              <a:rPr lang="en-US" sz="2175" dirty="0">
                <a:solidFill>
                  <a:srgbClr val="3A4658"/>
                </a:solidFill>
                <a:latin typeface="Arial" pitchFamily="34" charset="0"/>
                <a:ea typeface="Arial" pitchFamily="34" charset="-122"/>
                <a:cs typeface="Arial" pitchFamily="34" charset="-120"/>
              </a:rPr>
              <a:t>vs </a:t>
            </a:r>
            <a:pPr algn="l" indent="0" marL="0">
              <a:lnSpc>
                <a:spcPct val="145000"/>
              </a:lnSpc>
              <a:buNone/>
            </a:pPr>
            <a:r>
              <a:rPr lang="en-US" sz="2175" b="1" dirty="0">
                <a:solidFill>
                  <a:srgbClr val="16243F"/>
                </a:solidFill>
                <a:latin typeface="Arial" pitchFamily="34" charset="0"/>
                <a:ea typeface="Arial" pitchFamily="34" charset="-122"/>
                <a:cs typeface="Arial" pitchFamily="34" charset="-120"/>
              </a:rPr>
              <a:t>repaid (0)</a:t>
            </a:r>
            <a:pPr algn="l" indent="0" marL="0">
              <a:lnSpc>
                <a:spcPct val="145000"/>
              </a:lnSpc>
              <a:buNone/>
            </a:pPr>
            <a:r>
              <a:rPr lang="en-US" sz="2175" dirty="0">
                <a:solidFill>
                  <a:srgbClr val="3A4658"/>
                </a:solidFill>
                <a:latin typeface="Arial" pitchFamily="34" charset="0"/>
                <a:ea typeface="Arial" pitchFamily="34" charset="-122"/>
                <a:cs typeface="Arial" pitchFamily="34" charset="-120"/>
              </a:rPr>
              <a:t>.</a:t>
            </a:r>
            <a:endParaRPr lang="en-US" sz="2175" dirty="0"/>
          </a:p>
        </p:txBody>
      </p:sp>
      <p:sp>
        <p:nvSpPr>
          <p:cNvPr id="11" name="Shape 9"/>
          <p:cNvSpPr/>
          <p:nvPr/>
        </p:nvSpPr>
        <p:spPr>
          <a:xfrm>
            <a:off x="952500" y="6805761"/>
            <a:ext cx="7499152" cy="1066800"/>
          </a:xfrm>
          <a:prstGeom prst="roundRect">
            <a:avLst>
              <a:gd name="adj" fmla="val 12500"/>
            </a:avLst>
          </a:prstGeom>
          <a:solidFill>
            <a:srgbClr val="EAFAF6"/>
          </a:solidFill>
          <a:ln w="9525">
            <a:solidFill>
              <a:srgbClr val="BFE9E1"/>
            </a:solidFill>
            <a:prstDash val="solid"/>
          </a:ln>
        </p:spPr>
      </p:sp>
      <p:sp>
        <p:nvSpPr>
          <p:cNvPr id="12" name="Text 10"/>
          <p:cNvSpPr/>
          <p:nvPr/>
        </p:nvSpPr>
        <p:spPr>
          <a:xfrm>
            <a:off x="1247775" y="7043886"/>
            <a:ext cx="1447800" cy="628650"/>
          </a:xfrm>
          <a:prstGeom prst="rect">
            <a:avLst/>
          </a:prstGeom>
          <a:noFill/>
          <a:ln/>
        </p:spPr>
        <p:txBody>
          <a:bodyPr wrap="square" lIns="25400" tIns="25400" rIns="25400" bIns="25400" rtlCol="0" anchor="t">
            <a:normAutofit/>
          </a:bodyPr>
          <a:lstStyle/>
          <a:p>
            <a:pPr algn="l" indent="0" marL="0">
              <a:buNone/>
            </a:pPr>
            <a:r>
              <a:rPr lang="en-US" sz="3600" b="1" dirty="0">
                <a:solidFill>
                  <a:srgbClr val="1F9E8F"/>
                </a:solidFill>
                <a:latin typeface="Courier New" pitchFamily="34" charset="0"/>
                <a:ea typeface="Courier New" pitchFamily="34" charset="-122"/>
                <a:cs typeface="Courier New" pitchFamily="34" charset="-120"/>
              </a:rPr>
              <a:t>8.07%</a:t>
            </a:r>
            <a:endParaRPr lang="en-US" sz="3600" dirty="0"/>
          </a:p>
        </p:txBody>
      </p:sp>
      <p:sp>
        <p:nvSpPr>
          <p:cNvPr id="13" name="Text 11"/>
          <p:cNvSpPr/>
          <p:nvPr/>
        </p:nvSpPr>
        <p:spPr>
          <a:xfrm>
            <a:off x="2828925" y="7160865"/>
            <a:ext cx="4498535" cy="39469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16243F"/>
                </a:solidFill>
                <a:latin typeface="Arial" pitchFamily="34" charset="0"/>
                <a:ea typeface="Arial" pitchFamily="34" charset="-122"/>
                <a:cs typeface="Arial" pitchFamily="34" charset="-120"/>
              </a:rPr>
              <a:t>defaulted → a strong </a:t>
            </a:r>
            <a:pPr algn="l" indent="0" marL="0">
              <a:lnSpc>
                <a:spcPct val="135000"/>
              </a:lnSpc>
              <a:buNone/>
            </a:pPr>
            <a:r>
              <a:rPr lang="en-US" sz="2025" b="1" dirty="0">
                <a:solidFill>
                  <a:srgbClr val="16243F"/>
                </a:solidFill>
                <a:latin typeface="Arial" pitchFamily="34" charset="0"/>
                <a:ea typeface="Arial" pitchFamily="34" charset="-122"/>
                <a:cs typeface="Arial" pitchFamily="34" charset="-120"/>
              </a:rPr>
              <a:t>class imbalance</a:t>
            </a:r>
            <a:endParaRPr lang="en-US" sz="2025" dirty="0"/>
          </a:p>
        </p:txBody>
      </p:sp>
      <p:sp>
        <p:nvSpPr>
          <p:cNvPr id="14" name="Shape 12"/>
          <p:cNvSpPr/>
          <p:nvPr/>
        </p:nvSpPr>
        <p:spPr>
          <a:xfrm>
            <a:off x="9061252" y="2463701"/>
            <a:ext cx="8274248" cy="6025307"/>
          </a:xfrm>
          <a:prstGeom prst="roundRect">
            <a:avLst>
              <a:gd name="adj" fmla="val 1897"/>
            </a:avLst>
          </a:prstGeom>
          <a:solidFill>
            <a:srgbClr val="FFFFFF"/>
          </a:solidFill>
          <a:ln w="9525">
            <a:solidFill>
              <a:srgbClr val="E2E7EE"/>
            </a:solidFill>
            <a:prstDash val="solid"/>
          </a:ln>
          <a:effectLst>
            <a:outerShdw sx="100000" sy="100000" kx="0" ky="0" algn="bl" rotWithShape="0" blurRad="285750" dist="95250" dir="5400000">
              <a:srgbClr val="16243F">
                <a:alpha val="7000"/>
              </a:srgbClr>
            </a:outerShdw>
          </a:effectLst>
        </p:spPr>
      </p:sp>
      <p:pic>
        <p:nvPicPr>
          <p:cNvPr id="15" name="Image 0" descr="preencoded.png">    </p:cNvPr>
          <p:cNvPicPr>
            <a:picLocks noChangeAspect="1"/>
          </p:cNvPicPr>
          <p:nvPr/>
        </p:nvPicPr>
        <p:blipFill>
          <a:blip r:embed="rId1"/>
          <a:srcRect l="0" r="0" t="0" b="0"/>
          <a:stretch/>
        </p:blipFill>
        <p:spPr>
          <a:xfrm>
            <a:off x="9261277" y="2663726"/>
            <a:ext cx="7874198" cy="5187107"/>
          </a:xfrm>
          <a:prstGeom prst="rect">
            <a:avLst/>
          </a:prstGeom>
        </p:spPr>
      </p:pic>
      <p:sp>
        <p:nvSpPr>
          <p:cNvPr id="16" name="Text 13"/>
          <p:cNvSpPr/>
          <p:nvPr/>
        </p:nvSpPr>
        <p:spPr>
          <a:xfrm>
            <a:off x="9182407" y="7984182"/>
            <a:ext cx="8031938"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5B6B82"/>
                </a:solidFill>
                <a:latin typeface="Arial" pitchFamily="34" charset="0"/>
                <a:ea typeface="Arial" pitchFamily="34" charset="-122"/>
                <a:cs typeface="Arial" pitchFamily="34" charset="-120"/>
              </a:rPr>
              <a:t>Target distribution — repaid (0) vastly outnumbers default (1).</a:t>
            </a:r>
            <a:endParaRPr lang="en-US" sz="1800" dirty="0"/>
          </a:p>
        </p:txBody>
      </p:sp>
      <p:sp>
        <p:nvSpPr>
          <p:cNvPr id="17" name="Shape 14"/>
          <p:cNvSpPr/>
          <p:nvPr/>
        </p:nvSpPr>
        <p:spPr>
          <a:xfrm>
            <a:off x="952500" y="9267825"/>
            <a:ext cx="16383000" cy="9525"/>
          </a:xfrm>
          <a:prstGeom prst="rect">
            <a:avLst/>
          </a:prstGeom>
          <a:solidFill>
            <a:srgbClr val="E2E7EE"/>
          </a:solidFill>
          <a:ln/>
        </p:spPr>
      </p:sp>
      <p:sp>
        <p:nvSpPr>
          <p:cNvPr id="18" name="Text 15"/>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19" name="Text 16"/>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PREPARATION</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Data preparation &amp; cleaning</a:t>
            </a:r>
            <a:endParaRPr lang="en-US" sz="4350" dirty="0"/>
          </a:p>
        </p:txBody>
      </p:sp>
      <p:sp>
        <p:nvSpPr>
          <p:cNvPr id="4" name="Shape 2"/>
          <p:cNvSpPr/>
          <p:nvPr/>
        </p:nvSpPr>
        <p:spPr>
          <a:xfrm>
            <a:off x="952500" y="4261991"/>
            <a:ext cx="114300" cy="114300"/>
          </a:xfrm>
          <a:prstGeom prst="roundRect">
            <a:avLst>
              <a:gd name="adj" fmla="val 25000"/>
            </a:avLst>
          </a:prstGeom>
          <a:solidFill>
            <a:srgbClr val="1F9E8F"/>
          </a:solidFill>
          <a:ln/>
        </p:spPr>
      </p:sp>
      <p:sp>
        <p:nvSpPr>
          <p:cNvPr id="5" name="Text 3"/>
          <p:cNvSpPr/>
          <p:nvPr/>
        </p:nvSpPr>
        <p:spPr>
          <a:xfrm>
            <a:off x="1238250" y="4157216"/>
            <a:ext cx="6249601"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Removed </a:t>
            </a:r>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17 columns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with over 60% missing values.</a:t>
            </a:r>
            <a:endParaRPr lang="en-US" sz="2025" dirty="0"/>
          </a:p>
        </p:txBody>
      </p:sp>
      <p:sp>
        <p:nvSpPr>
          <p:cNvPr id="6" name="Shape 4"/>
          <p:cNvSpPr/>
          <p:nvPr/>
        </p:nvSpPr>
        <p:spPr>
          <a:xfrm>
            <a:off x="952500" y="4831556"/>
            <a:ext cx="114300" cy="114300"/>
          </a:xfrm>
          <a:prstGeom prst="roundRect">
            <a:avLst>
              <a:gd name="adj" fmla="val 25000"/>
            </a:avLst>
          </a:prstGeom>
          <a:solidFill>
            <a:srgbClr val="1F9E8F"/>
          </a:solidFill>
          <a:ln/>
        </p:spPr>
      </p:sp>
      <p:sp>
        <p:nvSpPr>
          <p:cNvPr id="7" name="Text 5"/>
          <p:cNvSpPr/>
          <p:nvPr/>
        </p:nvSpPr>
        <p:spPr>
          <a:xfrm>
            <a:off x="1238250" y="4726781"/>
            <a:ext cx="7182235"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Fixed an error — “</a:t>
            </a:r>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1000 years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of employment” set to missing.</a:t>
            </a:r>
            <a:endParaRPr lang="en-US" sz="2025" dirty="0"/>
          </a:p>
        </p:txBody>
      </p:sp>
      <p:sp>
        <p:nvSpPr>
          <p:cNvPr id="8" name="Shape 6"/>
          <p:cNvSpPr/>
          <p:nvPr/>
        </p:nvSpPr>
        <p:spPr>
          <a:xfrm>
            <a:off x="952500" y="5401121"/>
            <a:ext cx="114300" cy="114300"/>
          </a:xfrm>
          <a:prstGeom prst="roundRect">
            <a:avLst>
              <a:gd name="adj" fmla="val 25000"/>
            </a:avLst>
          </a:prstGeom>
          <a:solidFill>
            <a:srgbClr val="1F9E8F"/>
          </a:solidFill>
          <a:ln/>
        </p:spPr>
      </p:sp>
      <p:sp>
        <p:nvSpPr>
          <p:cNvPr id="9" name="Text 7"/>
          <p:cNvSpPr/>
          <p:nvPr/>
        </p:nvSpPr>
        <p:spPr>
          <a:xfrm>
            <a:off x="1238250" y="5296346"/>
            <a:ext cx="6331459"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Median imputation and outlier capping (winsorization).</a:t>
            </a:r>
            <a:endParaRPr lang="en-US" sz="2025" dirty="0"/>
          </a:p>
        </p:txBody>
      </p:sp>
      <p:sp>
        <p:nvSpPr>
          <p:cNvPr id="10" name="Shape 8"/>
          <p:cNvSpPr/>
          <p:nvPr/>
        </p:nvSpPr>
        <p:spPr>
          <a:xfrm>
            <a:off x="952500" y="5951637"/>
            <a:ext cx="114300" cy="114300"/>
          </a:xfrm>
          <a:prstGeom prst="roundRect">
            <a:avLst>
              <a:gd name="adj" fmla="val 25000"/>
            </a:avLst>
          </a:prstGeom>
          <a:solidFill>
            <a:srgbClr val="1F9E8F"/>
          </a:solidFill>
          <a:ln/>
        </p:spPr>
      </p:sp>
      <p:sp>
        <p:nvSpPr>
          <p:cNvPr id="11" name="Text 9"/>
          <p:cNvSpPr/>
          <p:nvPr/>
        </p:nvSpPr>
        <p:spPr>
          <a:xfrm>
            <a:off x="1238250" y="5846862"/>
            <a:ext cx="7264860"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Built banking ratios; Boruta selection cut </a:t>
            </a:r>
            <a:pPr algn="l" indent="0" marL="0">
              <a:lnSpc>
                <a:spcPct val="140000"/>
              </a:lnSpc>
              <a:buNone/>
            </a:pPr>
            <a:r>
              <a:rPr lang="en-US" sz="2025" b="1" dirty="0">
                <a:solidFill>
                  <a:srgbClr val="16243F"/>
                </a:solidFill>
                <a:latin typeface="Courier New" pitchFamily="34" charset="0"/>
                <a:ea typeface="Courier New" pitchFamily="34" charset="-122"/>
                <a:cs typeface="Courier New" pitchFamily="34" charset="-120"/>
              </a:rPr>
              <a:t>146 → 23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variables.</a:t>
            </a:r>
            <a:endParaRPr lang="en-US" sz="2025" dirty="0"/>
          </a:p>
        </p:txBody>
      </p:sp>
      <p:sp>
        <p:nvSpPr>
          <p:cNvPr id="12" name="Shape 10"/>
          <p:cNvSpPr/>
          <p:nvPr/>
        </p:nvSpPr>
        <p:spPr>
          <a:xfrm>
            <a:off x="952500" y="6521202"/>
            <a:ext cx="114300" cy="114300"/>
          </a:xfrm>
          <a:prstGeom prst="roundRect">
            <a:avLst>
              <a:gd name="adj" fmla="val 25000"/>
            </a:avLst>
          </a:prstGeom>
          <a:solidFill>
            <a:srgbClr val="1F9E8F"/>
          </a:solidFill>
          <a:ln/>
        </p:spPr>
      </p:sp>
      <p:sp>
        <p:nvSpPr>
          <p:cNvPr id="13" name="Text 11"/>
          <p:cNvSpPr/>
          <p:nvPr/>
        </p:nvSpPr>
        <p:spPr>
          <a:xfrm>
            <a:off x="1238250" y="6416427"/>
            <a:ext cx="6988013"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Leakage-safe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 every step learned from training data only.</a:t>
            </a:r>
            <a:endParaRPr lang="en-US" sz="2025" dirty="0"/>
          </a:p>
        </p:txBody>
      </p:sp>
      <p:sp>
        <p:nvSpPr>
          <p:cNvPr id="14" name="Shape 12"/>
          <p:cNvSpPr/>
          <p:nvPr/>
        </p:nvSpPr>
        <p:spPr>
          <a:xfrm>
            <a:off x="8847683" y="3869085"/>
            <a:ext cx="8487817" cy="2814340"/>
          </a:xfrm>
          <a:prstGeom prst="roundRect">
            <a:avLst>
              <a:gd name="adj" fmla="val 4061"/>
            </a:avLst>
          </a:prstGeom>
          <a:solidFill>
            <a:srgbClr val="FFFFFF"/>
          </a:solidFill>
          <a:ln w="9525">
            <a:solidFill>
              <a:srgbClr val="E2E7EE"/>
            </a:solidFill>
            <a:prstDash val="solid"/>
          </a:ln>
          <a:effectLst>
            <a:outerShdw sx="100000" sy="100000" kx="0" ky="0" algn="bl" rotWithShape="0" blurRad="285750" dist="95250" dir="5400000">
              <a:srgbClr val="16243F">
                <a:alpha val="7000"/>
              </a:srgbClr>
            </a:outerShdw>
          </a:effectLst>
        </p:spPr>
      </p:sp>
      <p:pic>
        <p:nvPicPr>
          <p:cNvPr id="15" name="Image 0" descr="preencoded.png">    </p:cNvPr>
          <p:cNvPicPr>
            <a:picLocks noChangeAspect="1"/>
          </p:cNvPicPr>
          <p:nvPr/>
        </p:nvPicPr>
        <p:blipFill>
          <a:blip r:embed="rId1"/>
          <a:srcRect l="0" r="0" t="0" b="0"/>
          <a:stretch/>
        </p:blipFill>
        <p:spPr>
          <a:xfrm>
            <a:off x="9028658" y="4050060"/>
            <a:ext cx="8125867" cy="2452390"/>
          </a:xfrm>
          <a:prstGeom prst="rect">
            <a:avLst/>
          </a:prstGeom>
        </p:spPr>
      </p:pic>
      <p:sp>
        <p:nvSpPr>
          <p:cNvPr id="16" name="Text 13"/>
          <p:cNvSpPr/>
          <p:nvPr/>
        </p:nvSpPr>
        <p:spPr>
          <a:xfrm>
            <a:off x="8759609" y="6816775"/>
            <a:ext cx="866396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5B6B82"/>
                </a:solidFill>
                <a:latin typeface="Arial" pitchFamily="34" charset="0"/>
                <a:ea typeface="Arial" pitchFamily="34" charset="-122"/>
                <a:cs typeface="Arial" pitchFamily="34" charset="-120"/>
              </a:rPr>
              <a:t>The “365243-day” placeholder (left) removed → a realistic distribution (right).</a:t>
            </a:r>
            <a:endParaRPr lang="en-US" sz="1800" dirty="0"/>
          </a:p>
        </p:txBody>
      </p:sp>
      <p:sp>
        <p:nvSpPr>
          <p:cNvPr id="17" name="Shape 14"/>
          <p:cNvSpPr/>
          <p:nvPr/>
        </p:nvSpPr>
        <p:spPr>
          <a:xfrm>
            <a:off x="952500" y="9267825"/>
            <a:ext cx="16383000" cy="9525"/>
          </a:xfrm>
          <a:prstGeom prst="rect">
            <a:avLst/>
          </a:prstGeom>
          <a:solidFill>
            <a:srgbClr val="E2E7EE"/>
          </a:solidFill>
          <a:ln/>
        </p:spPr>
      </p:sp>
      <p:sp>
        <p:nvSpPr>
          <p:cNvPr id="18" name="Text 15"/>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19" name="Text 16"/>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METHOD</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Models &amp; tools</a:t>
            </a:r>
            <a:endParaRPr lang="en-US" sz="4350" dirty="0"/>
          </a:p>
        </p:txBody>
      </p:sp>
      <p:sp>
        <p:nvSpPr>
          <p:cNvPr id="4" name="Shape 2"/>
          <p:cNvSpPr/>
          <p:nvPr/>
        </p:nvSpPr>
        <p:spPr>
          <a:xfrm>
            <a:off x="952500" y="3401318"/>
            <a:ext cx="3952875" cy="1152525"/>
          </a:xfrm>
          <a:prstGeom prst="roundRect">
            <a:avLst>
              <a:gd name="adj" fmla="val 9917"/>
            </a:avLst>
          </a:prstGeom>
          <a:solidFill>
            <a:srgbClr val="16243F"/>
          </a:solidFill>
          <a:ln/>
        </p:spPr>
      </p:sp>
      <p:sp>
        <p:nvSpPr>
          <p:cNvPr id="5" name="Text 3"/>
          <p:cNvSpPr/>
          <p:nvPr/>
        </p:nvSpPr>
        <p:spPr>
          <a:xfrm>
            <a:off x="1200150" y="3629918"/>
            <a:ext cx="3561302" cy="3048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3FC3B2"/>
                </a:solidFill>
                <a:latin typeface="Arial" pitchFamily="34" charset="0"/>
                <a:ea typeface="Arial" pitchFamily="34" charset="-122"/>
                <a:cs typeface="Arial" pitchFamily="34" charset="-120"/>
              </a:rPr>
              <a:t>BASELINE</a:t>
            </a:r>
            <a:endParaRPr lang="en-US" sz="1800" dirty="0"/>
          </a:p>
        </p:txBody>
      </p:sp>
      <p:sp>
        <p:nvSpPr>
          <p:cNvPr id="6" name="Text 4"/>
          <p:cNvSpPr/>
          <p:nvPr/>
        </p:nvSpPr>
        <p:spPr>
          <a:xfrm>
            <a:off x="1200150" y="3972818"/>
            <a:ext cx="3561302"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Logistic Regression</a:t>
            </a:r>
            <a:endParaRPr lang="en-US" sz="2025" dirty="0"/>
          </a:p>
        </p:txBody>
      </p:sp>
      <p:sp>
        <p:nvSpPr>
          <p:cNvPr id="7" name="Shape 5"/>
          <p:cNvSpPr/>
          <p:nvPr/>
        </p:nvSpPr>
        <p:spPr>
          <a:xfrm>
            <a:off x="5076825" y="3401318"/>
            <a:ext cx="3971925" cy="1152525"/>
          </a:xfrm>
          <a:prstGeom prst="roundRect">
            <a:avLst>
              <a:gd name="adj" fmla="val 9917"/>
            </a:avLst>
          </a:prstGeom>
          <a:solidFill>
            <a:srgbClr val="F5F7FA"/>
          </a:solidFill>
          <a:ln w="9525">
            <a:solidFill>
              <a:srgbClr val="E2E7EE"/>
            </a:solidFill>
            <a:prstDash val="solid"/>
          </a:ln>
        </p:spPr>
      </p:sp>
      <p:sp>
        <p:nvSpPr>
          <p:cNvPr id="8" name="Text 6"/>
          <p:cNvSpPr/>
          <p:nvPr/>
        </p:nvSpPr>
        <p:spPr>
          <a:xfrm>
            <a:off x="5334000" y="3639443"/>
            <a:ext cx="3561302" cy="3048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1F9E8F"/>
                </a:solidFill>
                <a:latin typeface="Arial" pitchFamily="34" charset="0"/>
                <a:ea typeface="Arial" pitchFamily="34" charset="-122"/>
                <a:cs typeface="Arial" pitchFamily="34" charset="-120"/>
              </a:rPr>
              <a:t>ML</a:t>
            </a:r>
            <a:endParaRPr lang="en-US" sz="1800" dirty="0"/>
          </a:p>
        </p:txBody>
      </p:sp>
      <p:sp>
        <p:nvSpPr>
          <p:cNvPr id="9" name="Text 7"/>
          <p:cNvSpPr/>
          <p:nvPr/>
        </p:nvSpPr>
        <p:spPr>
          <a:xfrm>
            <a:off x="5334000" y="3982343"/>
            <a:ext cx="3561302"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43F"/>
                </a:solidFill>
                <a:latin typeface="Arial" pitchFamily="34" charset="0"/>
                <a:ea typeface="Arial" pitchFamily="34" charset="-122"/>
                <a:cs typeface="Arial" pitchFamily="34" charset="-120"/>
              </a:rPr>
              <a:t>Random Forest</a:t>
            </a:r>
            <a:endParaRPr lang="en-US" sz="2025" dirty="0"/>
          </a:p>
        </p:txBody>
      </p:sp>
      <p:sp>
        <p:nvSpPr>
          <p:cNvPr id="10" name="Shape 8"/>
          <p:cNvSpPr/>
          <p:nvPr/>
        </p:nvSpPr>
        <p:spPr>
          <a:xfrm>
            <a:off x="9220200" y="3401318"/>
            <a:ext cx="3971925" cy="1152525"/>
          </a:xfrm>
          <a:prstGeom prst="roundRect">
            <a:avLst>
              <a:gd name="adj" fmla="val 9917"/>
            </a:avLst>
          </a:prstGeom>
          <a:solidFill>
            <a:srgbClr val="F5F7FA"/>
          </a:solidFill>
          <a:ln w="9525">
            <a:solidFill>
              <a:srgbClr val="E2E7EE"/>
            </a:solidFill>
            <a:prstDash val="solid"/>
          </a:ln>
        </p:spPr>
      </p:sp>
      <p:sp>
        <p:nvSpPr>
          <p:cNvPr id="11" name="Text 9"/>
          <p:cNvSpPr/>
          <p:nvPr/>
        </p:nvSpPr>
        <p:spPr>
          <a:xfrm>
            <a:off x="9477375" y="3639443"/>
            <a:ext cx="3561302" cy="3048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1F9E8F"/>
                </a:solidFill>
                <a:latin typeface="Arial" pitchFamily="34" charset="0"/>
                <a:ea typeface="Arial" pitchFamily="34" charset="-122"/>
                <a:cs typeface="Arial" pitchFamily="34" charset="-120"/>
              </a:rPr>
              <a:t>ML</a:t>
            </a:r>
            <a:endParaRPr lang="en-US" sz="1800" dirty="0"/>
          </a:p>
        </p:txBody>
      </p:sp>
      <p:sp>
        <p:nvSpPr>
          <p:cNvPr id="12" name="Text 10"/>
          <p:cNvSpPr/>
          <p:nvPr/>
        </p:nvSpPr>
        <p:spPr>
          <a:xfrm>
            <a:off x="9477375" y="3982343"/>
            <a:ext cx="3561302"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43F"/>
                </a:solidFill>
                <a:latin typeface="Arial" pitchFamily="34" charset="0"/>
                <a:ea typeface="Arial" pitchFamily="34" charset="-122"/>
                <a:cs typeface="Arial" pitchFamily="34" charset="-120"/>
              </a:rPr>
              <a:t>XGBoost</a:t>
            </a:r>
            <a:endParaRPr lang="en-US" sz="2025" dirty="0"/>
          </a:p>
        </p:txBody>
      </p:sp>
      <p:sp>
        <p:nvSpPr>
          <p:cNvPr id="13" name="Shape 11"/>
          <p:cNvSpPr/>
          <p:nvPr/>
        </p:nvSpPr>
        <p:spPr>
          <a:xfrm>
            <a:off x="13363575" y="3401318"/>
            <a:ext cx="3971925" cy="1152525"/>
          </a:xfrm>
          <a:prstGeom prst="roundRect">
            <a:avLst>
              <a:gd name="adj" fmla="val 9917"/>
            </a:avLst>
          </a:prstGeom>
          <a:solidFill>
            <a:srgbClr val="F5F7FA"/>
          </a:solidFill>
          <a:ln w="9525">
            <a:solidFill>
              <a:srgbClr val="E2E7EE"/>
            </a:solidFill>
            <a:prstDash val="solid"/>
          </a:ln>
        </p:spPr>
      </p:sp>
      <p:sp>
        <p:nvSpPr>
          <p:cNvPr id="14" name="Text 12"/>
          <p:cNvSpPr/>
          <p:nvPr/>
        </p:nvSpPr>
        <p:spPr>
          <a:xfrm>
            <a:off x="13620750" y="3639443"/>
            <a:ext cx="3561302" cy="3048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1F9E8F"/>
                </a:solidFill>
                <a:latin typeface="Arial" pitchFamily="34" charset="0"/>
                <a:ea typeface="Arial" pitchFamily="34" charset="-122"/>
                <a:cs typeface="Arial" pitchFamily="34" charset="-120"/>
              </a:rPr>
              <a:t>ML</a:t>
            </a:r>
            <a:endParaRPr lang="en-US" sz="1800" dirty="0"/>
          </a:p>
        </p:txBody>
      </p:sp>
      <p:sp>
        <p:nvSpPr>
          <p:cNvPr id="15" name="Text 13"/>
          <p:cNvSpPr/>
          <p:nvPr/>
        </p:nvSpPr>
        <p:spPr>
          <a:xfrm>
            <a:off x="13620750" y="3982343"/>
            <a:ext cx="3561302"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16243F"/>
                </a:solidFill>
                <a:latin typeface="Arial" pitchFamily="34" charset="0"/>
                <a:ea typeface="Arial" pitchFamily="34" charset="-122"/>
                <a:cs typeface="Arial" pitchFamily="34" charset="-120"/>
              </a:rPr>
              <a:t>LightGBM</a:t>
            </a:r>
            <a:endParaRPr lang="en-US" sz="2025" dirty="0"/>
          </a:p>
        </p:txBody>
      </p:sp>
      <p:sp>
        <p:nvSpPr>
          <p:cNvPr id="16" name="Shape 14"/>
          <p:cNvSpPr/>
          <p:nvPr/>
        </p:nvSpPr>
        <p:spPr>
          <a:xfrm>
            <a:off x="952500" y="4925318"/>
            <a:ext cx="114300" cy="114300"/>
          </a:xfrm>
          <a:prstGeom prst="roundRect">
            <a:avLst>
              <a:gd name="adj" fmla="val 25000"/>
            </a:avLst>
          </a:prstGeom>
          <a:solidFill>
            <a:srgbClr val="1F9E8F"/>
          </a:solidFill>
          <a:ln/>
        </p:spPr>
      </p:sp>
      <p:sp>
        <p:nvSpPr>
          <p:cNvPr id="17" name="Text 15"/>
          <p:cNvSpPr/>
          <p:nvPr/>
        </p:nvSpPr>
        <p:spPr>
          <a:xfrm>
            <a:off x="1219200" y="4820543"/>
            <a:ext cx="6758227"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SMOTE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for imbalance — applied inside training folds only.</a:t>
            </a:r>
            <a:endParaRPr lang="en-US" sz="2025" dirty="0"/>
          </a:p>
        </p:txBody>
      </p:sp>
      <p:sp>
        <p:nvSpPr>
          <p:cNvPr id="18" name="Shape 16"/>
          <p:cNvSpPr/>
          <p:nvPr/>
        </p:nvSpPr>
        <p:spPr>
          <a:xfrm>
            <a:off x="952500" y="5475833"/>
            <a:ext cx="114300" cy="114300"/>
          </a:xfrm>
          <a:prstGeom prst="roundRect">
            <a:avLst>
              <a:gd name="adj" fmla="val 25000"/>
            </a:avLst>
          </a:prstGeom>
          <a:solidFill>
            <a:srgbClr val="1F9E8F"/>
          </a:solidFill>
          <a:ln/>
        </p:spPr>
      </p:sp>
      <p:sp>
        <p:nvSpPr>
          <p:cNvPr id="19" name="Text 17"/>
          <p:cNvSpPr/>
          <p:nvPr/>
        </p:nvSpPr>
        <p:spPr>
          <a:xfrm>
            <a:off x="1219200" y="5371058"/>
            <a:ext cx="6134478"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5-fold cross-validation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with hyperparameter tuning.</a:t>
            </a:r>
            <a:endParaRPr lang="en-US" sz="2025" dirty="0"/>
          </a:p>
        </p:txBody>
      </p:sp>
      <p:sp>
        <p:nvSpPr>
          <p:cNvPr id="20" name="Shape 18"/>
          <p:cNvSpPr/>
          <p:nvPr/>
        </p:nvSpPr>
        <p:spPr>
          <a:xfrm>
            <a:off x="952500" y="6026348"/>
            <a:ext cx="114300" cy="114300"/>
          </a:xfrm>
          <a:prstGeom prst="roundRect">
            <a:avLst>
              <a:gd name="adj" fmla="val 25000"/>
            </a:avLst>
          </a:prstGeom>
          <a:solidFill>
            <a:srgbClr val="1F9E8F"/>
          </a:solidFill>
          <a:ln/>
        </p:spPr>
      </p:sp>
      <p:sp>
        <p:nvSpPr>
          <p:cNvPr id="21" name="Text 19"/>
          <p:cNvSpPr/>
          <p:nvPr/>
        </p:nvSpPr>
        <p:spPr>
          <a:xfrm>
            <a:off x="1219200" y="5921573"/>
            <a:ext cx="7897654" cy="77718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Main metric </a:t>
            </a:r>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AUC-ROC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 tools: Python, scikit-learn, XGBoost, LightGBM, SHAP.</a:t>
            </a:r>
            <a:endParaRPr lang="en-US" sz="2025" dirty="0"/>
          </a:p>
        </p:txBody>
      </p:sp>
      <p:sp>
        <p:nvSpPr>
          <p:cNvPr id="22" name="Shape 20"/>
          <p:cNvSpPr/>
          <p:nvPr/>
        </p:nvSpPr>
        <p:spPr>
          <a:xfrm>
            <a:off x="9401175" y="4820543"/>
            <a:ext cx="7934325" cy="2349847"/>
          </a:xfrm>
          <a:prstGeom prst="roundRect">
            <a:avLst>
              <a:gd name="adj" fmla="val 4864"/>
            </a:avLst>
          </a:prstGeom>
          <a:solidFill>
            <a:srgbClr val="FFFFFF"/>
          </a:solidFill>
          <a:ln w="9525">
            <a:solidFill>
              <a:srgbClr val="E2E7EE"/>
            </a:solidFill>
            <a:prstDash val="solid"/>
          </a:ln>
          <a:effectLst>
            <a:outerShdw sx="100000" sy="100000" kx="0" ky="0" algn="bl" rotWithShape="0" blurRad="285750" dist="95250" dir="5400000">
              <a:srgbClr val="16243F">
                <a:alpha val="7000"/>
              </a:srgbClr>
            </a:outerShdw>
          </a:effectLst>
        </p:spPr>
      </p:sp>
      <p:pic>
        <p:nvPicPr>
          <p:cNvPr id="23" name="Image 0" descr="preencoded.png">    </p:cNvPr>
          <p:cNvPicPr>
            <a:picLocks noChangeAspect="1"/>
          </p:cNvPicPr>
          <p:nvPr/>
        </p:nvPicPr>
        <p:blipFill>
          <a:blip r:embed="rId1"/>
          <a:srcRect l="0" r="0" t="0" b="0"/>
          <a:stretch/>
        </p:blipFill>
        <p:spPr>
          <a:xfrm>
            <a:off x="9563100" y="4982468"/>
            <a:ext cx="7610475" cy="2025997"/>
          </a:xfrm>
          <a:prstGeom prst="rect">
            <a:avLst/>
          </a:prstGeom>
        </p:spPr>
      </p:pic>
      <p:sp>
        <p:nvSpPr>
          <p:cNvPr id="24" name="Text 21"/>
          <p:cNvSpPr/>
          <p:nvPr/>
        </p:nvSpPr>
        <p:spPr>
          <a:xfrm>
            <a:off x="9321403" y="7284690"/>
            <a:ext cx="8093869"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5B6B82"/>
                </a:solidFill>
                <a:latin typeface="Arial" pitchFamily="34" charset="0"/>
                <a:ea typeface="Arial" pitchFamily="34" charset="-122"/>
                <a:cs typeface="Arial" pitchFamily="34" charset="-120"/>
              </a:rPr>
              <a:t>External credit scores separate payers (blue) from defaulters (purple).</a:t>
            </a:r>
            <a:endParaRPr lang="en-US" sz="1800" dirty="0"/>
          </a:p>
        </p:txBody>
      </p:sp>
      <p:sp>
        <p:nvSpPr>
          <p:cNvPr id="25" name="Shape 22"/>
          <p:cNvSpPr/>
          <p:nvPr/>
        </p:nvSpPr>
        <p:spPr>
          <a:xfrm>
            <a:off x="952500" y="9267825"/>
            <a:ext cx="16383000" cy="9525"/>
          </a:xfrm>
          <a:prstGeom prst="rect">
            <a:avLst/>
          </a:prstGeom>
          <a:solidFill>
            <a:srgbClr val="E2E7EE"/>
          </a:solidFill>
          <a:ln/>
        </p:spPr>
      </p:sp>
      <p:sp>
        <p:nvSpPr>
          <p:cNvPr id="26" name="Text 23"/>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27" name="Text 24"/>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43F"/>
        </a:solidFill>
      </p:bgPr>
    </p:bg>
    <p:spTree>
      <p:nvGrpSpPr>
        <p:cNvPr id="1" name=""/>
        <p:cNvGrpSpPr/>
        <p:nvPr/>
      </p:nvGrpSpPr>
      <p:grpSpPr>
        <a:xfrm>
          <a:off x="0" y="0"/>
          <a:ext cx="0" cy="0"/>
          <a:chOff x="0" y="0"/>
          <a:chExt cx="0" cy="0"/>
        </a:xfrm>
      </p:grpSpPr>
      <p:sp>
        <p:nvSpPr>
          <p:cNvPr id="2" name="Text 0"/>
          <p:cNvSpPr/>
          <p:nvPr/>
        </p:nvSpPr>
        <p:spPr>
          <a:xfrm>
            <a:off x="1047750" y="2881015"/>
            <a:ext cx="12145709" cy="342900"/>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3FC3B2"/>
                </a:solidFill>
                <a:latin typeface="Arial" pitchFamily="34" charset="0"/>
                <a:ea typeface="Arial" pitchFamily="34" charset="-122"/>
                <a:cs typeface="Arial" pitchFamily="34" charset="-120"/>
              </a:rPr>
              <a:t>LIVE DEMO · AVAL · 1 OF 3</a:t>
            </a:r>
            <a:endParaRPr lang="en-US" sz="1800" dirty="0"/>
          </a:p>
        </p:txBody>
      </p:sp>
      <p:sp>
        <p:nvSpPr>
          <p:cNvPr id="3" name="Text 1"/>
          <p:cNvSpPr/>
          <p:nvPr/>
        </p:nvSpPr>
        <p:spPr>
          <a:xfrm>
            <a:off x="1047750" y="3357265"/>
            <a:ext cx="12145709"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dirty="0">
                <a:solidFill>
                  <a:srgbClr val="FFFFFF"/>
                </a:solidFill>
                <a:latin typeface="Georgia" pitchFamily="34" charset="0"/>
                <a:ea typeface="Georgia" pitchFamily="34" charset="-122"/>
                <a:cs typeface="Georgia" pitchFamily="34" charset="-120"/>
              </a:rPr>
              <a:t>AVAL — the model as a working app</a:t>
            </a:r>
            <a:endParaRPr lang="en-US" sz="4800" dirty="0"/>
          </a:p>
        </p:txBody>
      </p:sp>
      <p:sp>
        <p:nvSpPr>
          <p:cNvPr id="4" name="Text 2"/>
          <p:cNvSpPr/>
          <p:nvPr/>
        </p:nvSpPr>
        <p:spPr>
          <a:xfrm>
            <a:off x="1047750" y="4351586"/>
            <a:ext cx="12145709" cy="903684"/>
          </a:xfrm>
          <a:prstGeom prst="rect">
            <a:avLst/>
          </a:prstGeom>
          <a:noFill/>
          <a:ln/>
        </p:spPr>
        <p:txBody>
          <a:bodyPr wrap="square" lIns="25400" tIns="25400" rIns="25400" bIns="25400" rtlCol="0" anchor="t">
            <a:normAutofit/>
          </a:bodyPr>
          <a:lstStyle/>
          <a:p>
            <a:pPr algn="l" indent="0" marL="0">
              <a:lnSpc>
                <a:spcPct val="145000"/>
              </a:lnSpc>
              <a:buNone/>
            </a:pPr>
            <a:r>
              <a:rPr lang="en-US" sz="2325" dirty="0">
                <a:solidFill>
                  <a:srgbClr val="FFFFFF">
                    <a:alpha val="85000"/>
                  </a:srgbClr>
                </a:solidFill>
                <a:latin typeface="Arial" pitchFamily="34" charset="0"/>
                <a:ea typeface="Arial" pitchFamily="34" charset="-122"/>
                <a:cs typeface="Arial" pitchFamily="34" charset="-120"/>
              </a:rPr>
              <a:t>I built </a:t>
            </a:r>
            <a:pPr algn="l" indent="0" marL="0">
              <a:lnSpc>
                <a:spcPct val="145000"/>
              </a:lnSpc>
              <a:buNone/>
            </a:pPr>
            <a:r>
              <a:rPr lang="en-US" sz="2325" b="1" dirty="0">
                <a:solidFill>
                  <a:srgbClr val="FFFFFF"/>
                </a:solidFill>
                <a:latin typeface="Arial" pitchFamily="34" charset="0"/>
                <a:ea typeface="Arial" pitchFamily="34" charset="-122"/>
                <a:cs typeface="Arial" pitchFamily="34" charset="-120"/>
              </a:rPr>
              <a:t>AVAL </a:t>
            </a:r>
            <a:pPr algn="l" indent="0" marL="0">
              <a:lnSpc>
                <a:spcPct val="145000"/>
              </a:lnSpc>
              <a:buNone/>
            </a:pPr>
            <a:r>
              <a:rPr lang="en-US" sz="2325" dirty="0">
                <a:solidFill>
                  <a:srgbClr val="FFFFFF">
                    <a:alpha val="85000"/>
                  </a:srgbClr>
                </a:solidFill>
                <a:latin typeface="Arial" pitchFamily="34" charset="0"/>
                <a:ea typeface="Arial" pitchFamily="34" charset="-122"/>
                <a:cs typeface="Arial" pitchFamily="34" charset="-120"/>
              </a:rPr>
              <a:t>— </a:t>
            </a:r>
            <a:pPr algn="l" indent="0" marL="0">
              <a:lnSpc>
                <a:spcPct val="145000"/>
              </a:lnSpc>
              <a:buNone/>
            </a:pPr>
            <a:r>
              <a:rPr lang="en-US" sz="2325" i="1" dirty="0">
                <a:solidFill>
                  <a:srgbClr val="FFFFFF">
                    <a:alpha val="85000"/>
                  </a:srgbClr>
                </a:solidFill>
                <a:latin typeface="Arial" pitchFamily="34" charset="0"/>
                <a:ea typeface="Arial" pitchFamily="34" charset="-122"/>
                <a:cs typeface="Arial" pitchFamily="34" charset="-120"/>
              </a:rPr>
              <a:t>“credit risk, made clear” </a:t>
            </a:r>
            <a:pPr algn="l" indent="0" marL="0">
              <a:lnSpc>
                <a:spcPct val="145000"/>
              </a:lnSpc>
              <a:buNone/>
            </a:pPr>
            <a:r>
              <a:rPr lang="en-US" sz="2325" dirty="0">
                <a:solidFill>
                  <a:srgbClr val="FFFFFF">
                    <a:alpha val="85000"/>
                  </a:srgbClr>
                </a:solidFill>
                <a:latin typeface="Arial" pitchFamily="34" charset="0"/>
                <a:ea typeface="Arial" pitchFamily="34" charset="-122"/>
                <a:cs typeface="Arial" pitchFamily="34" charset="-120"/>
              </a:rPr>
              <a:t>— a small app that puts the trained model behind a real interface.</a:t>
            </a:r>
            <a:endParaRPr lang="en-US" sz="2325" dirty="0"/>
          </a:p>
        </p:txBody>
      </p:sp>
      <p:sp>
        <p:nvSpPr>
          <p:cNvPr id="5" name="Shape 3"/>
          <p:cNvSpPr/>
          <p:nvPr/>
        </p:nvSpPr>
        <p:spPr>
          <a:xfrm>
            <a:off x="1047750" y="5655320"/>
            <a:ext cx="114300" cy="114300"/>
          </a:xfrm>
          <a:prstGeom prst="roundRect">
            <a:avLst>
              <a:gd name="adj" fmla="val 25000"/>
            </a:avLst>
          </a:prstGeom>
          <a:solidFill>
            <a:srgbClr val="3FC3B2"/>
          </a:solidFill>
          <a:ln/>
        </p:spPr>
      </p:sp>
      <p:sp>
        <p:nvSpPr>
          <p:cNvPr id="6" name="Text 4"/>
          <p:cNvSpPr/>
          <p:nvPr/>
        </p:nvSpPr>
        <p:spPr>
          <a:xfrm>
            <a:off x="1333500" y="5541020"/>
            <a:ext cx="8146295"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Three example applicants —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strong, first-time, over-leveraged</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a:t>
            </a:r>
            <a:endParaRPr lang="en-US" sz="2175" dirty="0"/>
          </a:p>
        </p:txBody>
      </p:sp>
      <p:sp>
        <p:nvSpPr>
          <p:cNvPr id="7" name="Shape 5"/>
          <p:cNvSpPr/>
          <p:nvPr/>
        </p:nvSpPr>
        <p:spPr>
          <a:xfrm>
            <a:off x="1047750" y="6280100"/>
            <a:ext cx="114300" cy="114300"/>
          </a:xfrm>
          <a:prstGeom prst="roundRect">
            <a:avLst>
              <a:gd name="adj" fmla="val 25000"/>
            </a:avLst>
          </a:prstGeom>
          <a:solidFill>
            <a:srgbClr val="3FC3B2"/>
          </a:solidFill>
          <a:ln/>
        </p:spPr>
      </p:sp>
      <p:sp>
        <p:nvSpPr>
          <p:cNvPr id="8" name="Text 6"/>
          <p:cNvSpPr/>
          <p:nvPr/>
        </p:nvSpPr>
        <p:spPr>
          <a:xfrm>
            <a:off x="1333500" y="6165800"/>
            <a:ext cx="4990146"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Tap one → their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risk dashboard </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opens.</a:t>
            </a:r>
            <a:endParaRPr lang="en-US" sz="2175" dirty="0"/>
          </a:p>
        </p:txBody>
      </p:sp>
      <p:sp>
        <p:nvSpPr>
          <p:cNvPr id="9" name="Shape 7"/>
          <p:cNvSpPr/>
          <p:nvPr/>
        </p:nvSpPr>
        <p:spPr>
          <a:xfrm>
            <a:off x="1047750" y="6904881"/>
            <a:ext cx="114300" cy="114300"/>
          </a:xfrm>
          <a:prstGeom prst="roundRect">
            <a:avLst>
              <a:gd name="adj" fmla="val 25000"/>
            </a:avLst>
          </a:prstGeom>
          <a:solidFill>
            <a:srgbClr val="3FC3B2"/>
          </a:solidFill>
          <a:ln/>
        </p:spPr>
      </p:sp>
      <p:sp>
        <p:nvSpPr>
          <p:cNvPr id="10" name="Text 8"/>
          <p:cNvSpPr/>
          <p:nvPr/>
        </p:nvSpPr>
        <p:spPr>
          <a:xfrm>
            <a:off x="1333500" y="6790581"/>
            <a:ext cx="5770254"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Or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build a custom profile </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for what-if analysis.</a:t>
            </a:r>
            <a:endParaRPr lang="en-US" sz="2175" dirty="0"/>
          </a:p>
        </p:txBody>
      </p:sp>
      <p:sp>
        <p:nvSpPr>
          <p:cNvPr id="11" name="Shape 9"/>
          <p:cNvSpPr/>
          <p:nvPr/>
        </p:nvSpPr>
        <p:spPr>
          <a:xfrm>
            <a:off x="13696950" y="1364159"/>
            <a:ext cx="3543300" cy="7339608"/>
          </a:xfrm>
          <a:prstGeom prst="roundRect">
            <a:avLst>
              <a:gd name="adj" fmla="val 15054"/>
            </a:avLst>
          </a:prstGeom>
          <a:ln/>
          <a:effectLst>
            <a:outerShdw sx="100000" sy="100000" kx="0" ky="0" algn="bl" rotWithShape="0" blurRad="609600" dist="247650" dir="5400000">
              <a:srgbClr val="000000">
                <a:alpha val="45000"/>
              </a:srgbClr>
            </a:outerShdw>
          </a:effectLst>
        </p:spPr>
      </p:sp>
      <p:pic>
        <p:nvPicPr>
          <p:cNvPr id="12" name="Image 0" descr="preencoded.png">    </p:cNvPr>
          <p:cNvPicPr>
            <a:picLocks noChangeAspect="1"/>
          </p:cNvPicPr>
          <p:nvPr/>
        </p:nvPicPr>
        <p:blipFill>
          <a:blip r:embed="rId1"/>
          <a:stretch>
            <a:fillRect/>
          </a:stretch>
        </p:blipFill>
        <p:spPr>
          <a:xfrm>
            <a:off x="13696950" y="1364159"/>
            <a:ext cx="3543300" cy="7339608"/>
          </a:xfrm>
          <a:prstGeom prst="rect">
            <a:avLst/>
          </a:prstGeom>
        </p:spPr>
      </p:pic>
      <p:sp>
        <p:nvSpPr>
          <p:cNvPr id="13" name="Shape 10"/>
          <p:cNvSpPr/>
          <p:nvPr/>
        </p:nvSpPr>
        <p:spPr>
          <a:xfrm>
            <a:off x="1047750" y="9210675"/>
            <a:ext cx="16192500" cy="9525"/>
          </a:xfrm>
          <a:prstGeom prst="rect">
            <a:avLst/>
          </a:prstGeom>
          <a:solidFill>
            <a:srgbClr val="FFFFFF">
              <a:alpha val="16000"/>
            </a:srgbClr>
          </a:solidFill>
          <a:ln/>
        </p:spPr>
      </p:sp>
      <p:sp>
        <p:nvSpPr>
          <p:cNvPr id="14" name="Text 11"/>
          <p:cNvSpPr/>
          <p:nvPr/>
        </p:nvSpPr>
        <p:spPr>
          <a:xfrm>
            <a:off x="1047750" y="94678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55000"/>
                  </a:srgbClr>
                </a:solidFill>
                <a:latin typeface="Arial" pitchFamily="34" charset="0"/>
                <a:ea typeface="Arial" pitchFamily="34" charset="-122"/>
                <a:cs typeface="Arial" pitchFamily="34" charset="-120"/>
              </a:rPr>
              <a:t>Batuhan Şen · 200527078 · İstinye University</a:t>
            </a:r>
            <a:endParaRPr lang="en-US" sz="1800" dirty="0"/>
          </a:p>
        </p:txBody>
      </p:sp>
      <p:sp>
        <p:nvSpPr>
          <p:cNvPr id="15" name="Text 12"/>
          <p:cNvSpPr/>
          <p:nvPr/>
        </p:nvSpPr>
        <p:spPr>
          <a:xfrm>
            <a:off x="16965811" y="94488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FC3B2"/>
                </a:solidFill>
                <a:latin typeface="Courier New" pitchFamily="34" charset="0"/>
                <a:ea typeface="Courier New" pitchFamily="34" charset="-122"/>
                <a:cs typeface="Courier New"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43F"/>
        </a:solidFill>
      </p:bgPr>
    </p:bg>
    <p:spTree>
      <p:nvGrpSpPr>
        <p:cNvPr id="1" name=""/>
        <p:cNvGrpSpPr/>
        <p:nvPr/>
      </p:nvGrpSpPr>
      <p:grpSpPr>
        <a:xfrm>
          <a:off x="0" y="0"/>
          <a:ext cx="0" cy="0"/>
          <a:chOff x="0" y="0"/>
          <a:chExt cx="0" cy="0"/>
        </a:xfrm>
      </p:grpSpPr>
      <p:sp>
        <p:nvSpPr>
          <p:cNvPr id="2" name="Text 0"/>
          <p:cNvSpPr/>
          <p:nvPr/>
        </p:nvSpPr>
        <p:spPr>
          <a:xfrm>
            <a:off x="1047750" y="3127474"/>
            <a:ext cx="12145709" cy="342900"/>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3FC3B2"/>
                </a:solidFill>
                <a:latin typeface="Arial" pitchFamily="34" charset="0"/>
                <a:ea typeface="Arial" pitchFamily="34" charset="-122"/>
                <a:cs typeface="Arial" pitchFamily="34" charset="-120"/>
              </a:rPr>
              <a:t>LIVE DEMO · AVAL · 2 OF 3</a:t>
            </a:r>
            <a:endParaRPr lang="en-US" sz="1800" dirty="0"/>
          </a:p>
        </p:txBody>
      </p:sp>
      <p:sp>
        <p:nvSpPr>
          <p:cNvPr id="3" name="Text 1"/>
          <p:cNvSpPr/>
          <p:nvPr/>
        </p:nvSpPr>
        <p:spPr>
          <a:xfrm>
            <a:off x="1047750" y="3603724"/>
            <a:ext cx="12145709" cy="708571"/>
          </a:xfrm>
          <a:prstGeom prst="rect">
            <a:avLst/>
          </a:prstGeom>
          <a:noFill/>
          <a:ln/>
        </p:spPr>
        <p:txBody>
          <a:bodyPr wrap="square" lIns="25400" tIns="25400" rIns="25400" bIns="25400" rtlCol="0" anchor="t">
            <a:normAutofit/>
          </a:bodyPr>
          <a:lstStyle/>
          <a:p>
            <a:pPr algn="l" indent="0" marL="0">
              <a:lnSpc>
                <a:spcPct val="110000"/>
              </a:lnSpc>
              <a:buNone/>
            </a:pPr>
            <a:r>
              <a:rPr lang="en-US" sz="4800" dirty="0">
                <a:solidFill>
                  <a:srgbClr val="FFFFFF"/>
                </a:solidFill>
                <a:latin typeface="Georgia" pitchFamily="34" charset="0"/>
                <a:ea typeface="Georgia" pitchFamily="34" charset="-122"/>
                <a:cs typeface="Georgia" pitchFamily="34" charset="-120"/>
              </a:rPr>
              <a:t>From application to assessment</a:t>
            </a:r>
            <a:endParaRPr lang="en-US" sz="4800" dirty="0"/>
          </a:p>
        </p:txBody>
      </p:sp>
      <p:sp>
        <p:nvSpPr>
          <p:cNvPr id="4" name="Shape 2"/>
          <p:cNvSpPr/>
          <p:nvPr/>
        </p:nvSpPr>
        <p:spPr>
          <a:xfrm>
            <a:off x="1047750" y="4712345"/>
            <a:ext cx="114300" cy="114300"/>
          </a:xfrm>
          <a:prstGeom prst="roundRect">
            <a:avLst>
              <a:gd name="adj" fmla="val 25000"/>
            </a:avLst>
          </a:prstGeom>
          <a:solidFill>
            <a:srgbClr val="3FC3B2"/>
          </a:solidFill>
          <a:ln/>
        </p:spPr>
        <p:txBody>
          <a:bodyPr/>
          <a:p/>
        </p:txBody>
      </p:sp>
      <p:sp>
        <p:nvSpPr>
          <p:cNvPr id="5" name="Text 3"/>
          <p:cNvSpPr/>
          <p:nvPr/>
        </p:nvSpPr>
        <p:spPr>
          <a:xfrm>
            <a:off x="1333500" y="4598045"/>
            <a:ext cx="11630951"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The applicant enters only what they know —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income, loan, payment, age, work, education</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a:t>
            </a:r>
            <a:endParaRPr lang="en-US" sz="2175" dirty="0"/>
          </a:p>
        </p:txBody>
      </p:sp>
      <p:sp>
        <p:nvSpPr>
          <p:cNvPr id="6" name="Shape 4"/>
          <p:cNvSpPr/>
          <p:nvPr/>
        </p:nvSpPr>
        <p:spPr>
          <a:xfrm>
            <a:off x="1047750" y="5337125"/>
            <a:ext cx="114300" cy="114300"/>
          </a:xfrm>
          <a:prstGeom prst="roundRect">
            <a:avLst>
              <a:gd name="adj" fmla="val 25000"/>
            </a:avLst>
          </a:prstGeom>
          <a:solidFill>
            <a:srgbClr val="3FC3B2"/>
          </a:solidFill>
          <a:ln/>
        </p:spPr>
        <p:txBody>
          <a:bodyPr/>
          <a:p/>
        </p:txBody>
      </p:sp>
      <p:sp>
        <p:nvSpPr>
          <p:cNvPr id="7" name="Text 5"/>
          <p:cNvSpPr/>
          <p:nvPr/>
        </p:nvSpPr>
        <p:spPr>
          <a:xfrm>
            <a:off x="1333500" y="5222825"/>
            <a:ext cx="7937663"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Credit-bureau scores are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pulled automatically </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 never typed.</a:t>
            </a:r>
            <a:endParaRPr lang="en-US" sz="2175" dirty="0"/>
          </a:p>
        </p:txBody>
      </p:sp>
      <p:sp>
        <p:nvSpPr>
          <p:cNvPr id="8" name="Shape 6"/>
          <p:cNvSpPr/>
          <p:nvPr/>
        </p:nvSpPr>
        <p:spPr>
          <a:xfrm>
            <a:off x="1047750" y="5961906"/>
            <a:ext cx="114300" cy="114300"/>
          </a:xfrm>
          <a:prstGeom prst="roundRect">
            <a:avLst>
              <a:gd name="adj" fmla="val 25000"/>
            </a:avLst>
          </a:prstGeom>
          <a:solidFill>
            <a:srgbClr val="3FC3B2"/>
          </a:solidFill>
          <a:ln/>
        </p:spPr>
        <p:txBody>
          <a:bodyPr/>
          <a:p/>
        </p:txBody>
      </p:sp>
      <p:sp>
        <p:nvSpPr>
          <p:cNvPr id="9" name="Text 7"/>
          <p:cNvSpPr/>
          <p:nvPr/>
        </p:nvSpPr>
        <p:spPr>
          <a:xfrm>
            <a:off x="1333500" y="5847606"/>
            <a:ext cx="7780691"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One tap —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Apply &amp; assess </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 and the model scores instantly.</a:t>
            </a:r>
            <a:endParaRPr lang="en-US" sz="2175" dirty="0"/>
          </a:p>
        </p:txBody>
      </p:sp>
      <p:sp>
        <p:nvSpPr>
          <p:cNvPr id="10" name="Text 8"/>
          <p:cNvSpPr/>
          <p:nvPr/>
        </p:nvSpPr>
        <p:spPr>
          <a:xfrm>
            <a:off x="1047750" y="6567636"/>
            <a:ext cx="12145709" cy="410914"/>
          </a:xfrm>
          <a:prstGeom prst="rect">
            <a:avLst/>
          </a:prstGeom>
          <a:noFill/>
          <a:ln/>
        </p:spPr>
        <p:txBody>
          <a:bodyPr wrap="square" lIns="25400" tIns="25400" rIns="25400" bIns="25400" rtlCol="0" anchor="t">
            <a:normAutofit/>
          </a:bodyPr>
          <a:lstStyle/>
          <a:p>
            <a:pPr algn="l" indent="0" marL="0">
              <a:lnSpc>
                <a:spcPct val="145000"/>
              </a:lnSpc>
              <a:buNone/>
            </a:pPr>
            <a:r>
              <a:rPr lang="en-US" sz="2025" dirty="0">
                <a:solidFill>
                  <a:srgbClr val="FFFFFF">
                    <a:alpha val="60000"/>
                  </a:srgbClr>
                </a:solidFill>
                <a:latin typeface="Arial" pitchFamily="34" charset="0"/>
                <a:ea typeface="Arial" pitchFamily="34" charset="-122"/>
                <a:cs typeface="Arial" pitchFamily="34" charset="-120"/>
              </a:rPr>
              <a:t>Powered by a simplified, interpretable version of the thesis model — nine key features.</a:t>
            </a:r>
            <a:endParaRPr lang="en-US" sz="2025" dirty="0"/>
          </a:p>
        </p:txBody>
      </p:sp>
      <p:sp>
        <p:nvSpPr>
          <p:cNvPr id="11" name="Shape 9"/>
          <p:cNvSpPr/>
          <p:nvPr/>
        </p:nvSpPr>
        <p:spPr>
          <a:xfrm>
            <a:off x="13696950" y="1364159"/>
            <a:ext cx="3543300" cy="7339608"/>
          </a:xfrm>
          <a:prstGeom prst="roundRect">
            <a:avLst>
              <a:gd name="adj" fmla="val 15054"/>
            </a:avLst>
          </a:prstGeom>
          <a:ln/>
          <a:effectLst>
            <a:outerShdw sx="100000" sy="100000" kx="0" ky="0" algn="bl" rotWithShape="0" blurRad="609600" dist="247650" dir="5400000">
              <a:srgbClr val="000000">
                <a:alpha val="45000"/>
              </a:srgbClr>
            </a:outerShdw>
          </a:effectLst>
        </p:spPr>
        <p:txBody>
          <a:bodyPr/>
          <a:p/>
        </p:txBody>
      </p:sp>
      <p:pic>
        <p:nvPicPr>
          <p:cNvPr id="12" name="Image 0" descr="preencoded.png">    </p:cNvPr>
          <p:cNvPicPr>
            <a:picLocks noChangeAspect="1"/>
          </p:cNvPicPr>
          <p:nvPr/>
        </p:nvPicPr>
        <p:blipFill>
          <a:blip r:embed="rId1"/>
          <a:stretch>
            <a:fillRect/>
          </a:stretch>
        </p:blipFill>
        <p:spPr>
          <a:xfrm>
            <a:off x="13696950" y="1364159"/>
            <a:ext cx="3543300" cy="7339608"/>
          </a:xfrm>
          <a:prstGeom prst="rect">
            <a:avLst/>
          </a:prstGeom>
        </p:spPr>
      </p:pic>
      <p:sp>
        <p:nvSpPr>
          <p:cNvPr id="13" name="Shape 10"/>
          <p:cNvSpPr/>
          <p:nvPr/>
        </p:nvSpPr>
        <p:spPr>
          <a:xfrm>
            <a:off x="1047750" y="9210675"/>
            <a:ext cx="16192500" cy="9525"/>
          </a:xfrm>
          <a:prstGeom prst="rect">
            <a:avLst/>
          </a:prstGeom>
          <a:solidFill>
            <a:srgbClr val="FFFFFF">
              <a:alpha val="16000"/>
            </a:srgbClr>
          </a:solidFill>
          <a:ln/>
        </p:spPr>
        <p:txBody>
          <a:bodyPr/>
          <a:p/>
        </p:txBody>
      </p:sp>
      <p:sp>
        <p:nvSpPr>
          <p:cNvPr id="14" name="Text 11"/>
          <p:cNvSpPr/>
          <p:nvPr/>
        </p:nvSpPr>
        <p:spPr>
          <a:xfrm>
            <a:off x="1047750" y="94678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55000"/>
                  </a:srgbClr>
                </a:solidFill>
                <a:latin typeface="Arial" pitchFamily="34" charset="0"/>
                <a:ea typeface="Arial" pitchFamily="34" charset="-122"/>
                <a:cs typeface="Arial" pitchFamily="34" charset="-120"/>
              </a:rPr>
              <a:t>Batuhan Şen · 200527078 · İstinye University</a:t>
            </a:r>
            <a:endParaRPr lang="en-US" sz="1800" dirty="0"/>
          </a:p>
        </p:txBody>
      </p:sp>
      <p:sp>
        <p:nvSpPr>
          <p:cNvPr id="15" name="Text 12"/>
          <p:cNvSpPr/>
          <p:nvPr/>
        </p:nvSpPr>
        <p:spPr>
          <a:xfrm>
            <a:off x="16965811" y="94488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FC3B2"/>
                </a:solidFill>
                <a:latin typeface="Courier New" pitchFamily="34" charset="0"/>
                <a:ea typeface="Courier New" pitchFamily="34" charset="-122"/>
                <a:cs typeface="Courier New"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43F"/>
        </a:solidFill>
      </p:bgPr>
    </p:bg>
    <p:spTree>
      <p:nvGrpSpPr>
        <p:cNvPr id="1" name=""/>
        <p:cNvGrpSpPr/>
        <p:nvPr/>
      </p:nvGrpSpPr>
      <p:grpSpPr>
        <a:xfrm>
          <a:off x="0" y="0"/>
          <a:ext cx="0" cy="0"/>
          <a:chOff x="0" y="0"/>
          <a:chExt cx="0" cy="0"/>
        </a:xfrm>
      </p:grpSpPr>
      <p:sp>
        <p:nvSpPr>
          <p:cNvPr id="2" name="Text 0"/>
          <p:cNvSpPr/>
          <p:nvPr/>
        </p:nvSpPr>
        <p:spPr>
          <a:xfrm>
            <a:off x="1047750" y="2549277"/>
            <a:ext cx="8594217" cy="342900"/>
          </a:xfrm>
          <a:prstGeom prst="rect">
            <a:avLst/>
          </a:prstGeom>
          <a:noFill/>
          <a:ln/>
        </p:spPr>
        <p:txBody>
          <a:bodyPr wrap="square" lIns="25400" tIns="25400" rIns="25400" bIns="25400" rtlCol="0" anchor="t">
            <a:normAutofit/>
          </a:bodyPr>
          <a:lstStyle/>
          <a:p>
            <a:pPr algn="l" indent="0" marL="0">
              <a:buNone/>
            </a:pPr>
            <a:r>
              <a:rPr lang="en-US" sz="1800" b="1" spc="360" kern="0" dirty="0">
                <a:solidFill>
                  <a:srgbClr val="3FC3B2"/>
                </a:solidFill>
                <a:latin typeface="Arial" pitchFamily="34" charset="0"/>
                <a:ea typeface="Arial" pitchFamily="34" charset="-122"/>
                <a:cs typeface="Arial" pitchFamily="34" charset="-120"/>
              </a:rPr>
              <a:t>LIVE DEMO · AVAL · 3 OF 3</a:t>
            </a:r>
            <a:endParaRPr lang="en-US" sz="1800" dirty="0"/>
          </a:p>
        </p:txBody>
      </p:sp>
      <p:sp>
        <p:nvSpPr>
          <p:cNvPr id="3" name="Text 1"/>
          <p:cNvSpPr/>
          <p:nvPr/>
        </p:nvSpPr>
        <p:spPr>
          <a:xfrm>
            <a:off x="1047750" y="3025527"/>
            <a:ext cx="8594217" cy="1379041"/>
          </a:xfrm>
          <a:prstGeom prst="rect">
            <a:avLst/>
          </a:prstGeom>
          <a:noFill/>
          <a:ln/>
        </p:spPr>
        <p:txBody>
          <a:bodyPr wrap="square" lIns="25400" tIns="25400" rIns="25400" bIns="25400" rtlCol="0" anchor="t">
            <a:normAutofit/>
          </a:bodyPr>
          <a:lstStyle/>
          <a:p>
            <a:pPr algn="l" indent="0" marL="0">
              <a:lnSpc>
                <a:spcPct val="110000"/>
              </a:lnSpc>
              <a:buNone/>
            </a:pPr>
            <a:r>
              <a:rPr lang="en-US" sz="4800" dirty="0">
                <a:solidFill>
                  <a:srgbClr val="FFFFFF"/>
                </a:solidFill>
                <a:latin typeface="Georgia" pitchFamily="34" charset="0"/>
                <a:ea typeface="Georgia" pitchFamily="34" charset="-122"/>
                <a:cs typeface="Georgia" pitchFamily="34" charset="-120"/>
              </a:rPr>
              <a:t>The decision — and the reasons</a:t>
            </a:r>
            <a:endParaRPr lang="en-US" sz="4800" dirty="0"/>
          </a:p>
        </p:txBody>
      </p:sp>
      <p:sp>
        <p:nvSpPr>
          <p:cNvPr id="4" name="Shape 2"/>
          <p:cNvSpPr/>
          <p:nvPr/>
        </p:nvSpPr>
        <p:spPr>
          <a:xfrm>
            <a:off x="1047750" y="4804618"/>
            <a:ext cx="114300" cy="114300"/>
          </a:xfrm>
          <a:prstGeom prst="roundRect">
            <a:avLst>
              <a:gd name="adj" fmla="val 25000"/>
            </a:avLst>
          </a:prstGeom>
          <a:solidFill>
            <a:srgbClr val="3FC3B2"/>
          </a:solidFill>
          <a:ln/>
        </p:spPr>
      </p:sp>
      <p:sp>
        <p:nvSpPr>
          <p:cNvPr id="5" name="Text 3"/>
          <p:cNvSpPr/>
          <p:nvPr/>
        </p:nvSpPr>
        <p:spPr>
          <a:xfrm>
            <a:off x="1333500" y="4690318"/>
            <a:ext cx="5646087" cy="424755"/>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Instant default probability for every applicant.</a:t>
            </a:r>
            <a:endParaRPr lang="en-US" sz="2175" dirty="0"/>
          </a:p>
        </p:txBody>
      </p:sp>
      <p:sp>
        <p:nvSpPr>
          <p:cNvPr id="6" name="Shape 4"/>
          <p:cNvSpPr/>
          <p:nvPr/>
        </p:nvSpPr>
        <p:spPr>
          <a:xfrm>
            <a:off x="1047750" y="5419874"/>
            <a:ext cx="114300" cy="114300"/>
          </a:xfrm>
          <a:prstGeom prst="roundRect">
            <a:avLst>
              <a:gd name="adj" fmla="val 25000"/>
            </a:avLst>
          </a:prstGeom>
          <a:solidFill>
            <a:srgbClr val="3FC3B2"/>
          </a:solidFill>
          <a:ln/>
        </p:spPr>
      </p:sp>
      <p:sp>
        <p:nvSpPr>
          <p:cNvPr id="7" name="Text 5"/>
          <p:cNvSpPr/>
          <p:nvPr/>
        </p:nvSpPr>
        <p:spPr>
          <a:xfrm>
            <a:off x="1333500" y="5305574"/>
            <a:ext cx="8299894" cy="820936"/>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“Why this score” lists the </a:t>
            </a:r>
            <a:pPr algn="l" indent="0" marL="0">
              <a:lnSpc>
                <a:spcPct val="140000"/>
              </a:lnSpc>
              <a:buNone/>
            </a:pPr>
            <a:r>
              <a:rPr lang="en-US" sz="2175" b="1" dirty="0">
                <a:solidFill>
                  <a:srgbClr val="FFFFFF"/>
                </a:solidFill>
                <a:latin typeface="Arial" pitchFamily="34" charset="0"/>
                <a:ea typeface="Arial" pitchFamily="34" charset="-122"/>
                <a:cs typeface="Arial" pitchFamily="34" charset="-120"/>
              </a:rPr>
              <a:t>six factors </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behind it — the model’s SHAP reasons.</a:t>
            </a:r>
            <a:endParaRPr lang="en-US" sz="2175" dirty="0"/>
          </a:p>
        </p:txBody>
      </p:sp>
      <p:sp>
        <p:nvSpPr>
          <p:cNvPr id="8" name="Shape 6"/>
          <p:cNvSpPr/>
          <p:nvPr/>
        </p:nvSpPr>
        <p:spPr>
          <a:xfrm>
            <a:off x="1047750" y="6431310"/>
            <a:ext cx="114300" cy="114300"/>
          </a:xfrm>
          <a:prstGeom prst="roundRect">
            <a:avLst>
              <a:gd name="adj" fmla="val 25000"/>
            </a:avLst>
          </a:prstGeom>
          <a:solidFill>
            <a:srgbClr val="3FC3B2"/>
          </a:solidFill>
          <a:ln/>
        </p:spPr>
      </p:sp>
      <p:sp>
        <p:nvSpPr>
          <p:cNvPr id="9" name="Text 7"/>
          <p:cNvSpPr/>
          <p:nvPr/>
        </p:nvSpPr>
        <p:spPr>
          <a:xfrm>
            <a:off x="1333500" y="6317010"/>
            <a:ext cx="6066569"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Elif K. → </a:t>
            </a:r>
            <a:pPr algn="l" indent="0" marL="0">
              <a:lnSpc>
                <a:spcPct val="140000"/>
              </a:lnSpc>
              <a:buNone/>
            </a:pPr>
            <a:r>
              <a:rPr lang="en-US" sz="2175" b="1" dirty="0">
                <a:solidFill>
                  <a:srgbClr val="7FD8CC"/>
                </a:solidFill>
                <a:latin typeface="Courier New" pitchFamily="34" charset="0"/>
                <a:ea typeface="Courier New" pitchFamily="34" charset="-122"/>
                <a:cs typeface="Courier New" pitchFamily="34" charset="-120"/>
              </a:rPr>
              <a:t>0.5% low </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 Deniz Y. → </a:t>
            </a:r>
            <a:pPr algn="l" indent="0" marL="0">
              <a:lnSpc>
                <a:spcPct val="140000"/>
              </a:lnSpc>
              <a:buNone/>
            </a:pPr>
            <a:r>
              <a:rPr lang="en-US" sz="2175" b="1" dirty="0">
                <a:solidFill>
                  <a:srgbClr val="F2A3BB"/>
                </a:solidFill>
                <a:latin typeface="Courier New" pitchFamily="34" charset="0"/>
                <a:ea typeface="Courier New" pitchFamily="34" charset="-122"/>
                <a:cs typeface="Courier New" pitchFamily="34" charset="-120"/>
              </a:rPr>
              <a:t>49.3% high</a:t>
            </a:r>
            <a:pPr algn="l" indent="0" marL="0">
              <a:lnSpc>
                <a:spcPct val="140000"/>
              </a:lnSpc>
              <a:buNone/>
            </a:pPr>
            <a:r>
              <a:rPr lang="en-US" sz="2175" dirty="0">
                <a:solidFill>
                  <a:srgbClr val="FFFFFF">
                    <a:alpha val="85000"/>
                  </a:srgbClr>
                </a:solidFill>
                <a:latin typeface="Arial" pitchFamily="34" charset="0"/>
                <a:ea typeface="Arial" pitchFamily="34" charset="-122"/>
                <a:cs typeface="Arial" pitchFamily="34" charset="-120"/>
              </a:rPr>
              <a:t>.</a:t>
            </a:r>
            <a:endParaRPr lang="en-US" sz="2175" dirty="0"/>
          </a:p>
        </p:txBody>
      </p:sp>
      <p:sp>
        <p:nvSpPr>
          <p:cNvPr id="10" name="Text 8"/>
          <p:cNvSpPr/>
          <p:nvPr/>
        </p:nvSpPr>
        <p:spPr>
          <a:xfrm>
            <a:off x="1047750" y="7094190"/>
            <a:ext cx="8594217" cy="462409"/>
          </a:xfrm>
          <a:prstGeom prst="rect">
            <a:avLst/>
          </a:prstGeom>
          <a:noFill/>
          <a:ln/>
        </p:spPr>
        <p:txBody>
          <a:bodyPr wrap="square" lIns="25400" tIns="25400" rIns="25400" bIns="25400" rtlCol="0" anchor="t">
            <a:normAutofit/>
          </a:bodyPr>
          <a:lstStyle/>
          <a:p>
            <a:pPr algn="l" indent="0" marL="0">
              <a:lnSpc>
                <a:spcPct val="135000"/>
              </a:lnSpc>
              <a:buNone/>
            </a:pPr>
            <a:r>
              <a:rPr lang="en-US" sz="2475" i="1" dirty="0">
                <a:solidFill>
                  <a:srgbClr val="3FC3B2"/>
                </a:solidFill>
                <a:latin typeface="Georgia" pitchFamily="34" charset="0"/>
                <a:ea typeface="Georgia" pitchFamily="34" charset="-122"/>
                <a:cs typeface="Georgia" pitchFamily="34" charset="-120"/>
              </a:rPr>
              <a:t>Accurate </a:t>
            </a:r>
            <a:pPr algn="l" indent="0" marL="0">
              <a:lnSpc>
                <a:spcPct val="135000"/>
              </a:lnSpc>
              <a:buNone/>
            </a:pPr>
            <a:r>
              <a:rPr lang="en-US" sz="2475" b="1" i="1" dirty="0">
                <a:solidFill>
                  <a:srgbClr val="3FC3B2"/>
                </a:solidFill>
                <a:latin typeface="Georgia" pitchFamily="34" charset="0"/>
                <a:ea typeface="Georgia" pitchFamily="34" charset="-122"/>
                <a:cs typeface="Georgia" pitchFamily="34" charset="-120"/>
              </a:rPr>
              <a:t>and </a:t>
            </a:r>
            <a:pPr algn="l" indent="0" marL="0">
              <a:lnSpc>
                <a:spcPct val="135000"/>
              </a:lnSpc>
              <a:buNone/>
            </a:pPr>
            <a:r>
              <a:rPr lang="en-US" sz="2475" i="1" dirty="0">
                <a:solidFill>
                  <a:srgbClr val="3FC3B2"/>
                </a:solidFill>
                <a:latin typeface="Georgia" pitchFamily="34" charset="0"/>
                <a:ea typeface="Georgia" pitchFamily="34" charset="-122"/>
                <a:cs typeface="Georgia" pitchFamily="34" charset="-120"/>
              </a:rPr>
              <a:t>explainable — the goal of this thesis.</a:t>
            </a:r>
            <a:endParaRPr lang="en-US" sz="2475" dirty="0"/>
          </a:p>
        </p:txBody>
      </p:sp>
      <p:sp>
        <p:nvSpPr>
          <p:cNvPr id="11" name="Shape 9"/>
          <p:cNvSpPr/>
          <p:nvPr/>
        </p:nvSpPr>
        <p:spPr>
          <a:xfrm>
            <a:off x="10096500" y="1227088"/>
            <a:ext cx="3352800" cy="6908750"/>
          </a:xfrm>
          <a:prstGeom prst="roundRect">
            <a:avLst>
              <a:gd name="adj" fmla="val 15057"/>
            </a:avLst>
          </a:prstGeom>
          <a:ln/>
          <a:effectLst>
            <a:outerShdw sx="100000" sy="100000" kx="0" ky="0" algn="bl" rotWithShape="0" blurRad="609600" dist="247650" dir="5400000">
              <a:srgbClr val="000000">
                <a:alpha val="45000"/>
              </a:srgbClr>
            </a:outerShdw>
          </a:effectLst>
        </p:spPr>
      </p:sp>
      <p:pic>
        <p:nvPicPr>
          <p:cNvPr id="12" name="Image 0" descr="preencoded.png">    </p:cNvPr>
          <p:cNvPicPr>
            <a:picLocks noChangeAspect="1"/>
          </p:cNvPicPr>
          <p:nvPr/>
        </p:nvPicPr>
        <p:blipFill>
          <a:blip r:embed="rId1"/>
          <a:stretch>
            <a:fillRect/>
          </a:stretch>
        </p:blipFill>
        <p:spPr>
          <a:xfrm>
            <a:off x="10096500" y="1227088"/>
            <a:ext cx="3352800" cy="6908750"/>
          </a:xfrm>
          <a:prstGeom prst="rect">
            <a:avLst/>
          </a:prstGeom>
        </p:spPr>
      </p:pic>
      <p:sp>
        <p:nvSpPr>
          <p:cNvPr id="13" name="Shape 10"/>
          <p:cNvSpPr/>
          <p:nvPr/>
        </p:nvSpPr>
        <p:spPr>
          <a:xfrm>
            <a:off x="10609808" y="8326338"/>
            <a:ext cx="2326035" cy="514350"/>
          </a:xfrm>
          <a:prstGeom prst="roundRect">
            <a:avLst>
              <a:gd name="adj" fmla="val 50000"/>
            </a:avLst>
          </a:prstGeom>
          <a:solidFill>
            <a:srgbClr val="1F9E8F">
              <a:alpha val="16000"/>
            </a:srgbClr>
          </a:solidFill>
          <a:ln w="9525">
            <a:solidFill>
              <a:srgbClr val="3FC3B2">
                <a:alpha val="45000"/>
              </a:srgbClr>
            </a:solidFill>
            <a:prstDash val="solid"/>
          </a:ln>
        </p:spPr>
      </p:sp>
      <p:sp>
        <p:nvSpPr>
          <p:cNvPr id="14" name="Text 11"/>
          <p:cNvSpPr/>
          <p:nvPr/>
        </p:nvSpPr>
        <p:spPr>
          <a:xfrm>
            <a:off x="10866983" y="8431113"/>
            <a:ext cx="188788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7FD8CC"/>
                </a:solidFill>
                <a:latin typeface="Arial" pitchFamily="34" charset="0"/>
                <a:ea typeface="Arial" pitchFamily="34" charset="-122"/>
                <a:cs typeface="Arial" pitchFamily="34" charset="-120"/>
              </a:rPr>
              <a:t>Elif K. · 0.5% low</a:t>
            </a:r>
            <a:endParaRPr lang="en-US" sz="1800" dirty="0"/>
          </a:p>
        </p:txBody>
      </p:sp>
      <p:sp>
        <p:nvSpPr>
          <p:cNvPr id="15" name="Shape 12"/>
          <p:cNvSpPr/>
          <p:nvPr/>
        </p:nvSpPr>
        <p:spPr>
          <a:xfrm>
            <a:off x="13887450" y="1227088"/>
            <a:ext cx="3352800" cy="6908750"/>
          </a:xfrm>
          <a:prstGeom prst="roundRect">
            <a:avLst>
              <a:gd name="adj" fmla="val 15057"/>
            </a:avLst>
          </a:prstGeom>
          <a:ln/>
          <a:effectLst>
            <a:outerShdw sx="100000" sy="100000" kx="0" ky="0" algn="bl" rotWithShape="0" blurRad="609600" dist="247650" dir="5400000">
              <a:srgbClr val="000000">
                <a:alpha val="45000"/>
              </a:srgbClr>
            </a:outerShdw>
          </a:effectLst>
        </p:spPr>
      </p:sp>
      <p:pic>
        <p:nvPicPr>
          <p:cNvPr id="16" name="Image 1" descr="preencoded.png">    </p:cNvPr>
          <p:cNvPicPr>
            <a:picLocks noChangeAspect="1"/>
          </p:cNvPicPr>
          <p:nvPr/>
        </p:nvPicPr>
        <p:blipFill>
          <a:blip r:embed="rId2"/>
          <a:stretch>
            <a:fillRect/>
          </a:stretch>
        </p:blipFill>
        <p:spPr>
          <a:xfrm>
            <a:off x="13887450" y="1227088"/>
            <a:ext cx="3352800" cy="6908750"/>
          </a:xfrm>
          <a:prstGeom prst="rect">
            <a:avLst/>
          </a:prstGeom>
        </p:spPr>
      </p:pic>
      <p:sp>
        <p:nvSpPr>
          <p:cNvPr id="17" name="Shape 13"/>
          <p:cNvSpPr/>
          <p:nvPr/>
        </p:nvSpPr>
        <p:spPr>
          <a:xfrm>
            <a:off x="14183767" y="8326338"/>
            <a:ext cx="2760166" cy="514350"/>
          </a:xfrm>
          <a:prstGeom prst="roundRect">
            <a:avLst>
              <a:gd name="adj" fmla="val 50000"/>
            </a:avLst>
          </a:prstGeom>
          <a:solidFill>
            <a:srgbClr val="C0476B">
              <a:alpha val="16000"/>
            </a:srgbClr>
          </a:solidFill>
          <a:ln w="9525">
            <a:solidFill>
              <a:srgbClr val="E86D91">
                <a:alpha val="45000"/>
              </a:srgbClr>
            </a:solidFill>
            <a:prstDash val="solid"/>
          </a:ln>
        </p:spPr>
      </p:sp>
      <p:sp>
        <p:nvSpPr>
          <p:cNvPr id="18" name="Text 14"/>
          <p:cNvSpPr/>
          <p:nvPr/>
        </p:nvSpPr>
        <p:spPr>
          <a:xfrm>
            <a:off x="14440942" y="8431113"/>
            <a:ext cx="23286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F2A3BB"/>
                </a:solidFill>
                <a:latin typeface="Arial" pitchFamily="34" charset="0"/>
                <a:ea typeface="Arial" pitchFamily="34" charset="-122"/>
                <a:cs typeface="Arial" pitchFamily="34" charset="-120"/>
              </a:rPr>
              <a:t>Deniz Y. · 49.3% high</a:t>
            </a:r>
            <a:endParaRPr lang="en-US" sz="1800" dirty="0"/>
          </a:p>
        </p:txBody>
      </p:sp>
      <p:sp>
        <p:nvSpPr>
          <p:cNvPr id="19" name="Shape 15"/>
          <p:cNvSpPr/>
          <p:nvPr/>
        </p:nvSpPr>
        <p:spPr>
          <a:xfrm>
            <a:off x="1047750" y="9210675"/>
            <a:ext cx="16192500" cy="9525"/>
          </a:xfrm>
          <a:prstGeom prst="rect">
            <a:avLst/>
          </a:prstGeom>
          <a:solidFill>
            <a:srgbClr val="FFFFFF">
              <a:alpha val="16000"/>
            </a:srgbClr>
          </a:solidFill>
          <a:ln/>
        </p:spPr>
      </p:sp>
      <p:sp>
        <p:nvSpPr>
          <p:cNvPr id="20" name="Text 16"/>
          <p:cNvSpPr/>
          <p:nvPr/>
        </p:nvSpPr>
        <p:spPr>
          <a:xfrm>
            <a:off x="1047750" y="94678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55000"/>
                  </a:srgbClr>
                </a:solidFill>
                <a:latin typeface="Arial" pitchFamily="34" charset="0"/>
                <a:ea typeface="Arial" pitchFamily="34" charset="-122"/>
                <a:cs typeface="Arial" pitchFamily="34" charset="-120"/>
              </a:rPr>
              <a:t>Batuhan Şen · 200527078 · İstinye University</a:t>
            </a:r>
            <a:endParaRPr lang="en-US" sz="1800" dirty="0"/>
          </a:p>
        </p:txBody>
      </p:sp>
      <p:sp>
        <p:nvSpPr>
          <p:cNvPr id="21" name="Text 17"/>
          <p:cNvSpPr/>
          <p:nvPr/>
        </p:nvSpPr>
        <p:spPr>
          <a:xfrm>
            <a:off x="16965811" y="94488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FC3B2"/>
                </a:solidFill>
                <a:latin typeface="Courier New" pitchFamily="34" charset="0"/>
                <a:ea typeface="Courier New" pitchFamily="34" charset="-122"/>
                <a:cs typeface="Courier New"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RESULTS · SMOTE PIPELINE</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Model comparison</a:t>
            </a:r>
            <a:endParaRPr lang="en-US" sz="4350" dirty="0"/>
          </a:p>
        </p:txBody>
      </p:sp>
      <p:sp>
        <p:nvSpPr>
          <p:cNvPr id="4" name="Shape 2"/>
          <p:cNvSpPr/>
          <p:nvPr/>
        </p:nvSpPr>
        <p:spPr>
          <a:xfrm>
            <a:off x="952500" y="2628305"/>
            <a:ext cx="7888635" cy="5695950"/>
          </a:xfrm>
          <a:prstGeom prst="roundRect">
            <a:avLst>
              <a:gd name="adj" fmla="val 2007"/>
            </a:avLst>
          </a:prstGeom>
          <a:solidFill>
            <a:srgbClr val="FFFFFF"/>
          </a:solidFill>
          <a:ln w="9525">
            <a:solidFill>
              <a:srgbClr val="E2E7EE"/>
            </a:solidFill>
            <a:prstDash val="solid"/>
          </a:ln>
          <a:effectLst>
            <a:outerShdw sx="100000" sy="100000" kx="0" ky="0" algn="bl" rotWithShape="0" blurRad="285750" dist="95250" dir="5400000">
              <a:srgbClr val="16243F">
                <a:alpha val="7000"/>
              </a:srgbClr>
            </a:outerShdw>
          </a:effectLst>
        </p:spPr>
      </p:sp>
      <p:pic>
        <p:nvPicPr>
          <p:cNvPr id="5" name="Image 0" descr="preencoded.png">    </p:cNvPr>
          <p:cNvPicPr>
            <a:picLocks noChangeAspect="1"/>
          </p:cNvPicPr>
          <p:nvPr/>
        </p:nvPicPr>
        <p:blipFill>
          <a:blip r:embed="rId1"/>
          <a:srcRect l="0" r="0" t="0" b="0"/>
          <a:stretch/>
        </p:blipFill>
        <p:spPr>
          <a:xfrm>
            <a:off x="1133475" y="2809280"/>
            <a:ext cx="7526685" cy="5334000"/>
          </a:xfrm>
          <a:prstGeom prst="rect">
            <a:avLst/>
          </a:prstGeom>
        </p:spPr>
      </p:pic>
      <p:sp>
        <p:nvSpPr>
          <p:cNvPr id="6" name="Shape 3"/>
          <p:cNvSpPr/>
          <p:nvPr/>
        </p:nvSpPr>
        <p:spPr>
          <a:xfrm>
            <a:off x="9412635" y="3505646"/>
            <a:ext cx="7922865" cy="838200"/>
          </a:xfrm>
          <a:prstGeom prst="roundRect">
            <a:avLst>
              <a:gd name="adj" fmla="val 11364"/>
            </a:avLst>
          </a:prstGeom>
          <a:solidFill>
            <a:srgbClr val="16243F"/>
          </a:solidFill>
          <a:ln/>
        </p:spPr>
      </p:sp>
      <p:sp>
        <p:nvSpPr>
          <p:cNvPr id="7" name="Text 4"/>
          <p:cNvSpPr/>
          <p:nvPr/>
        </p:nvSpPr>
        <p:spPr>
          <a:xfrm>
            <a:off x="9679335" y="3743771"/>
            <a:ext cx="2534394" cy="400050"/>
          </a:xfrm>
          <a:prstGeom prst="rect">
            <a:avLst/>
          </a:prstGeom>
          <a:noFill/>
          <a:ln/>
        </p:spPr>
        <p:txBody>
          <a:bodyPr wrap="square" lIns="25400" tIns="25400" rIns="25400" bIns="25400" rtlCol="0" anchor="t">
            <a:normAutofit/>
          </a:bodyPr>
          <a:lstStyle/>
          <a:p>
            <a:pPr algn="l" indent="0" marL="0">
              <a:buNone/>
            </a:pPr>
            <a:r>
              <a:rPr lang="en-US" sz="2175" b="1" dirty="0">
                <a:solidFill>
                  <a:srgbClr val="FFFFFF"/>
                </a:solidFill>
                <a:latin typeface="Arial" pitchFamily="34" charset="0"/>
                <a:ea typeface="Arial" pitchFamily="34" charset="-122"/>
                <a:cs typeface="Arial" pitchFamily="34" charset="-120"/>
              </a:rPr>
              <a:t>Logistic Regression</a:t>
            </a:r>
            <a:endParaRPr lang="en-US" sz="2175" dirty="0"/>
          </a:p>
        </p:txBody>
      </p:sp>
      <p:sp>
        <p:nvSpPr>
          <p:cNvPr id="8" name="Text 5"/>
          <p:cNvSpPr/>
          <p:nvPr/>
        </p:nvSpPr>
        <p:spPr>
          <a:xfrm>
            <a:off x="16097250" y="3715196"/>
            <a:ext cx="1047750"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3FC3B2"/>
                </a:solidFill>
                <a:latin typeface="Courier New" pitchFamily="34" charset="0"/>
                <a:ea typeface="Courier New" pitchFamily="34" charset="-122"/>
                <a:cs typeface="Courier New" pitchFamily="34" charset="-120"/>
              </a:rPr>
              <a:t>0.737</a:t>
            </a:r>
            <a:endParaRPr lang="en-US" sz="2550" dirty="0"/>
          </a:p>
        </p:txBody>
      </p:sp>
      <p:sp>
        <p:nvSpPr>
          <p:cNvPr id="9" name="Shape 6"/>
          <p:cNvSpPr/>
          <p:nvPr/>
        </p:nvSpPr>
        <p:spPr>
          <a:xfrm>
            <a:off x="9412635" y="5134421"/>
            <a:ext cx="7922865" cy="9525"/>
          </a:xfrm>
          <a:prstGeom prst="rect">
            <a:avLst/>
          </a:prstGeom>
          <a:solidFill>
            <a:srgbClr val="E2E7EE"/>
          </a:solidFill>
          <a:ln/>
        </p:spPr>
      </p:sp>
      <p:sp>
        <p:nvSpPr>
          <p:cNvPr id="10" name="Text 7"/>
          <p:cNvSpPr/>
          <p:nvPr/>
        </p:nvSpPr>
        <p:spPr>
          <a:xfrm>
            <a:off x="9679335" y="4677221"/>
            <a:ext cx="1304479" cy="352425"/>
          </a:xfrm>
          <a:prstGeom prst="rect">
            <a:avLst/>
          </a:prstGeom>
          <a:noFill/>
          <a:ln/>
        </p:spPr>
        <p:txBody>
          <a:bodyPr wrap="square" lIns="25400" tIns="25400" rIns="25400" bIns="25400" rtlCol="0" anchor="t">
            <a:normAutofit/>
          </a:bodyPr>
          <a:lstStyle/>
          <a:p>
            <a:pPr algn="l" indent="0" marL="0">
              <a:buNone/>
            </a:pPr>
            <a:r>
              <a:rPr lang="en-US" sz="2175" dirty="0">
                <a:solidFill>
                  <a:srgbClr val="3A4658"/>
                </a:solidFill>
                <a:latin typeface="Arial" pitchFamily="34" charset="0"/>
                <a:ea typeface="Arial" pitchFamily="34" charset="-122"/>
                <a:cs typeface="Arial" pitchFamily="34" charset="-120"/>
              </a:rPr>
              <a:t>LightGBM</a:t>
            </a:r>
            <a:endParaRPr lang="en-US" sz="2175" dirty="0"/>
          </a:p>
        </p:txBody>
      </p:sp>
      <p:sp>
        <p:nvSpPr>
          <p:cNvPr id="11" name="Text 8"/>
          <p:cNvSpPr/>
          <p:nvPr/>
        </p:nvSpPr>
        <p:spPr>
          <a:xfrm>
            <a:off x="16182826" y="4667696"/>
            <a:ext cx="962174" cy="371475"/>
          </a:xfrm>
          <a:prstGeom prst="rect">
            <a:avLst/>
          </a:prstGeom>
          <a:noFill/>
          <a:ln/>
        </p:spPr>
        <p:txBody>
          <a:bodyPr wrap="square" lIns="25400" tIns="25400" rIns="25400" bIns="25400" rtlCol="0" anchor="t">
            <a:normAutofit/>
          </a:bodyPr>
          <a:lstStyle/>
          <a:p>
            <a:pPr algn="l" indent="0" marL="0">
              <a:buNone/>
            </a:pPr>
            <a:r>
              <a:rPr lang="en-US" sz="2325" dirty="0">
                <a:solidFill>
                  <a:srgbClr val="16243F"/>
                </a:solidFill>
                <a:latin typeface="Courier New" pitchFamily="34" charset="0"/>
                <a:ea typeface="Courier New" pitchFamily="34" charset="-122"/>
                <a:cs typeface="Courier New" pitchFamily="34" charset="-120"/>
              </a:rPr>
              <a:t>0.725</a:t>
            </a:r>
            <a:endParaRPr lang="en-US" sz="2325" dirty="0"/>
          </a:p>
        </p:txBody>
      </p:sp>
      <p:sp>
        <p:nvSpPr>
          <p:cNvPr id="12" name="Shape 9"/>
          <p:cNvSpPr/>
          <p:nvPr/>
        </p:nvSpPr>
        <p:spPr>
          <a:xfrm>
            <a:off x="9412635" y="5934521"/>
            <a:ext cx="7922865" cy="9525"/>
          </a:xfrm>
          <a:prstGeom prst="rect">
            <a:avLst/>
          </a:prstGeom>
          <a:solidFill>
            <a:srgbClr val="E2E7EE"/>
          </a:solidFill>
          <a:ln/>
        </p:spPr>
      </p:sp>
      <p:sp>
        <p:nvSpPr>
          <p:cNvPr id="13" name="Text 10"/>
          <p:cNvSpPr/>
          <p:nvPr/>
        </p:nvSpPr>
        <p:spPr>
          <a:xfrm>
            <a:off x="9679335" y="5477321"/>
            <a:ext cx="1181695" cy="352425"/>
          </a:xfrm>
          <a:prstGeom prst="rect">
            <a:avLst/>
          </a:prstGeom>
          <a:noFill/>
          <a:ln/>
        </p:spPr>
        <p:txBody>
          <a:bodyPr wrap="square" lIns="25400" tIns="25400" rIns="25400" bIns="25400" rtlCol="0" anchor="t">
            <a:normAutofit/>
          </a:bodyPr>
          <a:lstStyle/>
          <a:p>
            <a:pPr algn="l" indent="0" marL="0">
              <a:buNone/>
            </a:pPr>
            <a:r>
              <a:rPr lang="en-US" sz="2175" dirty="0">
                <a:solidFill>
                  <a:srgbClr val="3A4658"/>
                </a:solidFill>
                <a:latin typeface="Arial" pitchFamily="34" charset="0"/>
                <a:ea typeface="Arial" pitchFamily="34" charset="-122"/>
                <a:cs typeface="Arial" pitchFamily="34" charset="-120"/>
              </a:rPr>
              <a:t>XGBoost</a:t>
            </a:r>
            <a:endParaRPr lang="en-US" sz="2175" dirty="0"/>
          </a:p>
        </p:txBody>
      </p:sp>
      <p:sp>
        <p:nvSpPr>
          <p:cNvPr id="14" name="Text 11"/>
          <p:cNvSpPr/>
          <p:nvPr/>
        </p:nvSpPr>
        <p:spPr>
          <a:xfrm>
            <a:off x="16182826" y="5467796"/>
            <a:ext cx="962174" cy="371475"/>
          </a:xfrm>
          <a:prstGeom prst="rect">
            <a:avLst/>
          </a:prstGeom>
          <a:noFill/>
          <a:ln/>
        </p:spPr>
        <p:txBody>
          <a:bodyPr wrap="square" lIns="25400" tIns="25400" rIns="25400" bIns="25400" rtlCol="0" anchor="t">
            <a:normAutofit/>
          </a:bodyPr>
          <a:lstStyle/>
          <a:p>
            <a:pPr algn="l" indent="0" marL="0">
              <a:buNone/>
            </a:pPr>
            <a:r>
              <a:rPr lang="en-US" sz="2325" dirty="0">
                <a:solidFill>
                  <a:srgbClr val="16243F"/>
                </a:solidFill>
                <a:latin typeface="Courier New" pitchFamily="34" charset="0"/>
                <a:ea typeface="Courier New" pitchFamily="34" charset="-122"/>
                <a:cs typeface="Courier New" pitchFamily="34" charset="-120"/>
              </a:rPr>
              <a:t>0.718</a:t>
            </a:r>
            <a:endParaRPr lang="en-US" sz="2325" dirty="0"/>
          </a:p>
        </p:txBody>
      </p:sp>
      <p:sp>
        <p:nvSpPr>
          <p:cNvPr id="15" name="Shape 12"/>
          <p:cNvSpPr/>
          <p:nvPr/>
        </p:nvSpPr>
        <p:spPr>
          <a:xfrm>
            <a:off x="9412635" y="6734621"/>
            <a:ext cx="7922865" cy="9525"/>
          </a:xfrm>
          <a:prstGeom prst="rect">
            <a:avLst/>
          </a:prstGeom>
          <a:solidFill>
            <a:srgbClr val="E2E7EE"/>
          </a:solidFill>
          <a:ln/>
        </p:spPr>
      </p:sp>
      <p:sp>
        <p:nvSpPr>
          <p:cNvPr id="16" name="Text 13"/>
          <p:cNvSpPr/>
          <p:nvPr/>
        </p:nvSpPr>
        <p:spPr>
          <a:xfrm>
            <a:off x="9679335" y="6277421"/>
            <a:ext cx="1979861" cy="352425"/>
          </a:xfrm>
          <a:prstGeom prst="rect">
            <a:avLst/>
          </a:prstGeom>
          <a:noFill/>
          <a:ln/>
        </p:spPr>
        <p:txBody>
          <a:bodyPr wrap="square" lIns="25400" tIns="25400" rIns="25400" bIns="25400" rtlCol="0" anchor="t">
            <a:normAutofit/>
          </a:bodyPr>
          <a:lstStyle/>
          <a:p>
            <a:pPr algn="l" indent="0" marL="0">
              <a:buNone/>
            </a:pPr>
            <a:r>
              <a:rPr lang="en-US" sz="2175" dirty="0">
                <a:solidFill>
                  <a:srgbClr val="3A4658"/>
                </a:solidFill>
                <a:latin typeface="Arial" pitchFamily="34" charset="0"/>
                <a:ea typeface="Arial" pitchFamily="34" charset="-122"/>
                <a:cs typeface="Arial" pitchFamily="34" charset="-120"/>
              </a:rPr>
              <a:t>Random Forest</a:t>
            </a:r>
            <a:endParaRPr lang="en-US" sz="2175" dirty="0"/>
          </a:p>
        </p:txBody>
      </p:sp>
      <p:sp>
        <p:nvSpPr>
          <p:cNvPr id="17" name="Text 14"/>
          <p:cNvSpPr/>
          <p:nvPr/>
        </p:nvSpPr>
        <p:spPr>
          <a:xfrm>
            <a:off x="16182826" y="6267896"/>
            <a:ext cx="962174" cy="371475"/>
          </a:xfrm>
          <a:prstGeom prst="rect">
            <a:avLst/>
          </a:prstGeom>
          <a:noFill/>
          <a:ln/>
        </p:spPr>
        <p:txBody>
          <a:bodyPr wrap="square" lIns="25400" tIns="25400" rIns="25400" bIns="25400" rtlCol="0" anchor="t">
            <a:normAutofit/>
          </a:bodyPr>
          <a:lstStyle/>
          <a:p>
            <a:pPr algn="l" indent="0" marL="0">
              <a:buNone/>
            </a:pPr>
            <a:r>
              <a:rPr lang="en-US" sz="2325" dirty="0">
                <a:solidFill>
                  <a:srgbClr val="16243F"/>
                </a:solidFill>
                <a:latin typeface="Courier New" pitchFamily="34" charset="0"/>
                <a:ea typeface="Courier New" pitchFamily="34" charset="-122"/>
                <a:cs typeface="Courier New" pitchFamily="34" charset="-120"/>
              </a:rPr>
              <a:t>0.703</a:t>
            </a:r>
            <a:endParaRPr lang="en-US" sz="2325" dirty="0"/>
          </a:p>
        </p:txBody>
      </p:sp>
      <p:sp>
        <p:nvSpPr>
          <p:cNvPr id="18" name="Text 15"/>
          <p:cNvSpPr/>
          <p:nvPr/>
        </p:nvSpPr>
        <p:spPr>
          <a:xfrm>
            <a:off x="9412635" y="7067996"/>
            <a:ext cx="8160551"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The surprise: under SMOTE, the </a:t>
            </a:r>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simple model won</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a:t>
            </a:r>
            <a:endParaRPr lang="en-US" sz="2025" dirty="0"/>
          </a:p>
        </p:txBody>
      </p:sp>
      <p:sp>
        <p:nvSpPr>
          <p:cNvPr id="19" name="Shape 16"/>
          <p:cNvSpPr/>
          <p:nvPr/>
        </p:nvSpPr>
        <p:spPr>
          <a:xfrm>
            <a:off x="952500" y="9267825"/>
            <a:ext cx="16383000" cy="9525"/>
          </a:xfrm>
          <a:prstGeom prst="rect">
            <a:avLst/>
          </a:prstGeom>
          <a:solidFill>
            <a:srgbClr val="E2E7EE"/>
          </a:solidFill>
          <a:ln/>
        </p:spPr>
      </p:sp>
      <p:sp>
        <p:nvSpPr>
          <p:cNvPr id="20" name="Text 17"/>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21" name="Text 18"/>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KEY FINDING</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It depends on imbalance handling</a:t>
            </a:r>
            <a:endParaRPr lang="en-US" sz="4350" dirty="0"/>
          </a:p>
        </p:txBody>
      </p:sp>
      <p:sp>
        <p:nvSpPr>
          <p:cNvPr id="4" name="Text 2"/>
          <p:cNvSpPr/>
          <p:nvPr/>
        </p:nvSpPr>
        <p:spPr>
          <a:xfrm>
            <a:off x="952500" y="3779193"/>
            <a:ext cx="7963416" cy="434280"/>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3A4658"/>
                </a:solidFill>
                <a:latin typeface="Arial" pitchFamily="34" charset="0"/>
                <a:ea typeface="Arial" pitchFamily="34" charset="-122"/>
                <a:cs typeface="Arial" pitchFamily="34" charset="-120"/>
              </a:rPr>
              <a:t>I tested three strategies: </a:t>
            </a:r>
            <a:pPr algn="l" indent="0" marL="0">
              <a:lnSpc>
                <a:spcPct val="140000"/>
              </a:lnSpc>
              <a:buNone/>
            </a:pPr>
            <a:r>
              <a:rPr lang="en-US" sz="2175" b="1" dirty="0">
                <a:solidFill>
                  <a:srgbClr val="16243F"/>
                </a:solidFill>
                <a:latin typeface="Arial" pitchFamily="34" charset="0"/>
                <a:ea typeface="Arial" pitchFamily="34" charset="-122"/>
                <a:cs typeface="Arial" pitchFamily="34" charset="-120"/>
              </a:rPr>
              <a:t>none · SMOTE · class-weighting</a:t>
            </a:r>
            <a:pPr algn="l" indent="0" marL="0">
              <a:lnSpc>
                <a:spcPct val="140000"/>
              </a:lnSpc>
              <a:buNone/>
            </a:pPr>
            <a:r>
              <a:rPr lang="en-US" sz="2175" dirty="0">
                <a:solidFill>
                  <a:srgbClr val="3A4658"/>
                </a:solidFill>
                <a:latin typeface="Arial" pitchFamily="34" charset="0"/>
                <a:ea typeface="Arial" pitchFamily="34" charset="-122"/>
                <a:cs typeface="Arial" pitchFamily="34" charset="-120"/>
              </a:rPr>
              <a:t>.</a:t>
            </a:r>
            <a:endParaRPr lang="en-US" sz="2175" dirty="0"/>
          </a:p>
        </p:txBody>
      </p:sp>
      <p:sp>
        <p:nvSpPr>
          <p:cNvPr id="5" name="Shape 3"/>
          <p:cNvSpPr/>
          <p:nvPr/>
        </p:nvSpPr>
        <p:spPr>
          <a:xfrm>
            <a:off x="952500" y="4489698"/>
            <a:ext cx="114300" cy="114300"/>
          </a:xfrm>
          <a:prstGeom prst="roundRect">
            <a:avLst>
              <a:gd name="adj" fmla="val 25000"/>
            </a:avLst>
          </a:prstGeom>
          <a:solidFill>
            <a:srgbClr val="C0476B"/>
          </a:solidFill>
          <a:ln/>
        </p:spPr>
      </p:sp>
      <p:sp>
        <p:nvSpPr>
          <p:cNvPr id="6" name="Text 4"/>
          <p:cNvSpPr/>
          <p:nvPr/>
        </p:nvSpPr>
        <p:spPr>
          <a:xfrm>
            <a:off x="1219200" y="4384923"/>
            <a:ext cx="7267466" cy="41716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SMOTE </a:t>
            </a:r>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damages the tree models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 XGBoost drops </a:t>
            </a:r>
            <a:pPr algn="l" indent="0" marL="0">
              <a:lnSpc>
                <a:spcPct val="140000"/>
              </a:lnSpc>
              <a:buNone/>
            </a:pPr>
            <a:r>
              <a:rPr lang="en-US" sz="2025" b="1" dirty="0">
                <a:solidFill>
                  <a:srgbClr val="3A4658"/>
                </a:solidFill>
                <a:latin typeface="Courier New" pitchFamily="34" charset="0"/>
                <a:ea typeface="Courier New" pitchFamily="34" charset="-122"/>
                <a:cs typeface="Courier New" pitchFamily="34" charset="-120"/>
              </a:rPr>
              <a:t>0.042</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a:t>
            </a:r>
            <a:endParaRPr lang="en-US" sz="2025" dirty="0"/>
          </a:p>
        </p:txBody>
      </p:sp>
      <p:sp>
        <p:nvSpPr>
          <p:cNvPr id="7" name="Shape 5"/>
          <p:cNvSpPr/>
          <p:nvPr/>
        </p:nvSpPr>
        <p:spPr>
          <a:xfrm>
            <a:off x="952500" y="5078313"/>
            <a:ext cx="114300" cy="114300"/>
          </a:xfrm>
          <a:prstGeom prst="roundRect">
            <a:avLst>
              <a:gd name="adj" fmla="val 25000"/>
            </a:avLst>
          </a:prstGeom>
          <a:solidFill>
            <a:srgbClr val="1F9E8F"/>
          </a:solidFill>
          <a:ln/>
        </p:spPr>
      </p:sp>
      <p:sp>
        <p:nvSpPr>
          <p:cNvPr id="8" name="Text 6"/>
          <p:cNvSpPr/>
          <p:nvPr/>
        </p:nvSpPr>
        <p:spPr>
          <a:xfrm>
            <a:off x="1219200" y="4973538"/>
            <a:ext cx="7688715" cy="7962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With </a:t>
            </a:r>
            <a:pPr algn="l" indent="0" marL="0">
              <a:lnSpc>
                <a:spcPct val="140000"/>
              </a:lnSpc>
              <a:buNone/>
            </a:pPr>
            <a:r>
              <a:rPr lang="en-US" sz="2025" b="1" dirty="0">
                <a:solidFill>
                  <a:srgbClr val="16243F"/>
                </a:solidFill>
                <a:latin typeface="Arial" pitchFamily="34" charset="0"/>
                <a:ea typeface="Arial" pitchFamily="34" charset="-122"/>
                <a:cs typeface="Arial" pitchFamily="34" charset="-120"/>
              </a:rPr>
              <a:t>class-weighting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the ranking flips: XGBoost </a:t>
            </a:r>
            <a:pPr algn="l" indent="0" marL="0">
              <a:lnSpc>
                <a:spcPct val="140000"/>
              </a:lnSpc>
              <a:buNone/>
            </a:pPr>
            <a:r>
              <a:rPr lang="en-US" sz="2025" b="1" dirty="0">
                <a:solidFill>
                  <a:srgbClr val="3A4658"/>
                </a:solidFill>
                <a:latin typeface="Courier New" pitchFamily="34" charset="0"/>
                <a:ea typeface="Courier New" pitchFamily="34" charset="-122"/>
                <a:cs typeface="Courier New" pitchFamily="34" charset="-120"/>
              </a:rPr>
              <a:t>0.747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 LightGBM </a:t>
            </a:r>
            <a:pPr algn="l" indent="0" marL="0">
              <a:lnSpc>
                <a:spcPct val="140000"/>
              </a:lnSpc>
              <a:buNone/>
            </a:pPr>
            <a:r>
              <a:rPr lang="en-US" sz="2025" b="1" dirty="0">
                <a:solidFill>
                  <a:srgbClr val="3A4658"/>
                </a:solidFill>
                <a:latin typeface="Courier New" pitchFamily="34" charset="0"/>
                <a:ea typeface="Courier New" pitchFamily="34" charset="-122"/>
                <a:cs typeface="Courier New" pitchFamily="34" charset="-120"/>
              </a:rPr>
              <a:t>0.745 </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 LogReg </a:t>
            </a:r>
            <a:pPr algn="l" indent="0" marL="0">
              <a:lnSpc>
                <a:spcPct val="140000"/>
              </a:lnSpc>
              <a:buNone/>
            </a:pPr>
            <a:r>
              <a:rPr lang="en-US" sz="2025" b="1" dirty="0">
                <a:solidFill>
                  <a:srgbClr val="3A4658"/>
                </a:solidFill>
                <a:latin typeface="Courier New" pitchFamily="34" charset="0"/>
                <a:ea typeface="Courier New" pitchFamily="34" charset="-122"/>
                <a:cs typeface="Courier New" pitchFamily="34" charset="-120"/>
              </a:rPr>
              <a:t>0.741</a:t>
            </a:r>
            <a:pPr algn="l" indent="0" marL="0">
              <a:lnSpc>
                <a:spcPct val="140000"/>
              </a:lnSpc>
              <a:buNone/>
            </a:pPr>
            <a:r>
              <a:rPr lang="en-US" sz="2025" dirty="0">
                <a:solidFill>
                  <a:srgbClr val="3A4658"/>
                </a:solidFill>
                <a:latin typeface="Arial" pitchFamily="34" charset="0"/>
                <a:ea typeface="Arial" pitchFamily="34" charset="-122"/>
                <a:cs typeface="Arial" pitchFamily="34" charset="-120"/>
              </a:rPr>
              <a:t>.</a:t>
            </a:r>
            <a:endParaRPr lang="en-US" sz="2025" dirty="0"/>
          </a:p>
        </p:txBody>
      </p:sp>
      <p:sp>
        <p:nvSpPr>
          <p:cNvPr id="9" name="Shape 7"/>
          <p:cNvSpPr/>
          <p:nvPr/>
        </p:nvSpPr>
        <p:spPr>
          <a:xfrm>
            <a:off x="952500" y="5941219"/>
            <a:ext cx="7731472" cy="1232297"/>
          </a:xfrm>
          <a:prstGeom prst="roundRect">
            <a:avLst>
              <a:gd name="adj" fmla="val 10821"/>
            </a:avLst>
          </a:prstGeom>
          <a:solidFill>
            <a:srgbClr val="EAFAF6"/>
          </a:solidFill>
          <a:ln w="9525">
            <a:solidFill>
              <a:srgbClr val="BFE9E1"/>
            </a:solidFill>
            <a:prstDash val="solid"/>
          </a:ln>
        </p:spPr>
      </p:sp>
      <p:sp>
        <p:nvSpPr>
          <p:cNvPr id="10" name="Text 8"/>
          <p:cNvSpPr/>
          <p:nvPr/>
        </p:nvSpPr>
        <p:spPr>
          <a:xfrm>
            <a:off x="1247775" y="6179344"/>
            <a:ext cx="7355150" cy="794147"/>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16243F"/>
                </a:solidFill>
                <a:latin typeface="Arial" pitchFamily="34" charset="0"/>
                <a:ea typeface="Arial" pitchFamily="34" charset="-122"/>
                <a:cs typeface="Arial" pitchFamily="34" charset="-120"/>
              </a:rPr>
              <a:t>Boosting wins — but by only </a:t>
            </a:r>
            <a:pPr algn="l" indent="0" marL="0">
              <a:lnSpc>
                <a:spcPct val="140000"/>
              </a:lnSpc>
              <a:buNone/>
            </a:pPr>
            <a:r>
              <a:rPr lang="en-US" sz="2100" b="1" dirty="0">
                <a:solidFill>
                  <a:srgbClr val="1F9E8F"/>
                </a:solidFill>
                <a:latin typeface="Courier New" pitchFamily="34" charset="0"/>
                <a:ea typeface="Courier New" pitchFamily="34" charset="-122"/>
                <a:cs typeface="Courier New" pitchFamily="34" charset="-120"/>
              </a:rPr>
              <a:t>~0.006 AUC </a:t>
            </a:r>
            <a:pPr algn="l" indent="0" marL="0">
              <a:lnSpc>
                <a:spcPct val="140000"/>
              </a:lnSpc>
              <a:buNone/>
            </a:pPr>
            <a:r>
              <a:rPr lang="en-US" sz="2100" dirty="0">
                <a:solidFill>
                  <a:srgbClr val="16243F"/>
                </a:solidFill>
                <a:latin typeface="Arial" pitchFamily="34" charset="0"/>
                <a:ea typeface="Arial" pitchFamily="34" charset="-122"/>
                <a:cs typeface="Arial" pitchFamily="34" charset="-120"/>
              </a:rPr>
              <a:t>. The handling method mattered more than the model.</a:t>
            </a:r>
            <a:endParaRPr lang="en-US" sz="2100" dirty="0"/>
          </a:p>
        </p:txBody>
      </p:sp>
      <p:sp>
        <p:nvSpPr>
          <p:cNvPr id="11" name="Shape 9"/>
          <p:cNvSpPr/>
          <p:nvPr/>
        </p:nvSpPr>
        <p:spPr>
          <a:xfrm>
            <a:off x="9217372" y="2876996"/>
            <a:ext cx="8118128" cy="4798665"/>
          </a:xfrm>
          <a:prstGeom prst="roundRect">
            <a:avLst>
              <a:gd name="adj" fmla="val 2382"/>
            </a:avLst>
          </a:prstGeom>
          <a:solidFill>
            <a:srgbClr val="FFFFFF"/>
          </a:solidFill>
          <a:ln w="9525">
            <a:solidFill>
              <a:srgbClr val="E2E7EE"/>
            </a:solidFill>
            <a:prstDash val="solid"/>
          </a:ln>
          <a:effectLst>
            <a:outerShdw sx="100000" sy="100000" kx="0" ky="0" algn="bl" rotWithShape="0" blurRad="285750" dist="95250" dir="5400000">
              <a:srgbClr val="16243F">
                <a:alpha val="7000"/>
              </a:srgbClr>
            </a:outerShdw>
          </a:effectLst>
        </p:spPr>
      </p:sp>
      <p:pic>
        <p:nvPicPr>
          <p:cNvPr id="12" name="Image 0" descr="preencoded.png">    </p:cNvPr>
          <p:cNvPicPr>
            <a:picLocks noChangeAspect="1"/>
          </p:cNvPicPr>
          <p:nvPr/>
        </p:nvPicPr>
        <p:blipFill>
          <a:blip r:embed="rId1"/>
          <a:srcRect l="0" r="0" t="0" b="0"/>
          <a:stretch/>
        </p:blipFill>
        <p:spPr>
          <a:xfrm>
            <a:off x="9398347" y="3057971"/>
            <a:ext cx="7756178" cy="4436715"/>
          </a:xfrm>
          <a:prstGeom prst="rect">
            <a:avLst/>
          </a:prstGeom>
        </p:spPr>
      </p:pic>
      <p:sp>
        <p:nvSpPr>
          <p:cNvPr id="13" name="Text 10"/>
          <p:cNvSpPr/>
          <p:nvPr/>
        </p:nvSpPr>
        <p:spPr>
          <a:xfrm>
            <a:off x="9134843" y="7809012"/>
            <a:ext cx="8283186"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5B6B82"/>
                </a:solidFill>
                <a:latin typeface="Arial" pitchFamily="34" charset="0"/>
                <a:ea typeface="Arial" pitchFamily="34" charset="-122"/>
                <a:cs typeface="Arial" pitchFamily="34" charset="-120"/>
              </a:rPr>
              <a:t>Same models, three strategies — SMOTE (blue) sinks the tree models.</a:t>
            </a:r>
            <a:endParaRPr lang="en-US" sz="1800" dirty="0"/>
          </a:p>
        </p:txBody>
      </p:sp>
      <p:sp>
        <p:nvSpPr>
          <p:cNvPr id="14" name="Shape 11"/>
          <p:cNvSpPr/>
          <p:nvPr/>
        </p:nvSpPr>
        <p:spPr>
          <a:xfrm>
            <a:off x="952500" y="9267825"/>
            <a:ext cx="16383000" cy="9525"/>
          </a:xfrm>
          <a:prstGeom prst="rect">
            <a:avLst/>
          </a:prstGeom>
          <a:solidFill>
            <a:srgbClr val="E2E7EE"/>
          </a:solidFill>
          <a:ln/>
        </p:spPr>
      </p:sp>
      <p:sp>
        <p:nvSpPr>
          <p:cNvPr id="15" name="Text 12"/>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16" name="Text 13"/>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INTERPRETABILITY · SHAP</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What drives the predictions</a:t>
            </a:r>
            <a:endParaRPr lang="en-US" sz="4350" dirty="0"/>
          </a:p>
        </p:txBody>
      </p:sp>
      <p:sp>
        <p:nvSpPr>
          <p:cNvPr id="4" name="Shape 2"/>
          <p:cNvSpPr/>
          <p:nvPr/>
        </p:nvSpPr>
        <p:spPr>
          <a:xfrm>
            <a:off x="952500" y="2390180"/>
            <a:ext cx="8321873" cy="5505450"/>
          </a:xfrm>
          <a:prstGeom prst="roundRect">
            <a:avLst>
              <a:gd name="adj" fmla="val 2076"/>
            </a:avLst>
          </a:prstGeom>
          <a:solidFill>
            <a:srgbClr val="FFFFFF"/>
          </a:solidFill>
          <a:ln w="9525">
            <a:solidFill>
              <a:srgbClr val="E2E7EE"/>
            </a:solidFill>
            <a:prstDash val="solid"/>
          </a:ln>
          <a:effectLst>
            <a:outerShdw sx="100000" sy="100000" kx="0" ky="0" algn="bl" rotWithShape="0" blurRad="285750" dist="95250" dir="5400000">
              <a:srgbClr val="16243F">
                <a:alpha val="7000"/>
              </a:srgbClr>
            </a:outerShdw>
          </a:effectLst>
        </p:spPr>
      </p:sp>
      <p:pic>
        <p:nvPicPr>
          <p:cNvPr id="5" name="Image 0" descr="preencoded.png">    </p:cNvPr>
          <p:cNvPicPr>
            <a:picLocks noChangeAspect="1"/>
          </p:cNvPicPr>
          <p:nvPr/>
        </p:nvPicPr>
        <p:blipFill>
          <a:blip r:embed="rId1"/>
          <a:srcRect l="0" r="0" t="0" b="0"/>
          <a:stretch/>
        </p:blipFill>
        <p:spPr>
          <a:xfrm>
            <a:off x="1133475" y="2571155"/>
            <a:ext cx="7959923" cy="5143500"/>
          </a:xfrm>
          <a:prstGeom prst="rect">
            <a:avLst/>
          </a:prstGeom>
        </p:spPr>
      </p:pic>
      <p:sp>
        <p:nvSpPr>
          <p:cNvPr id="6" name="Text 3"/>
          <p:cNvSpPr/>
          <p:nvPr/>
        </p:nvSpPr>
        <p:spPr>
          <a:xfrm>
            <a:off x="866915" y="8028980"/>
            <a:ext cx="8493044" cy="571500"/>
          </a:xfrm>
          <a:prstGeom prst="rect">
            <a:avLst/>
          </a:prstGeom>
          <a:noFill/>
          <a:ln/>
        </p:spPr>
        <p:txBody>
          <a:bodyPr wrap="square" lIns="25400" tIns="25400" rIns="25400" bIns="25400" rtlCol="0" anchor="t">
            <a:normAutofit/>
          </a:bodyPr>
          <a:lstStyle/>
          <a:p>
            <a:pPr algn="ctr" indent="0" marL="0">
              <a:buNone/>
            </a:pPr>
            <a:r>
              <a:rPr lang="en-US" sz="1800" dirty="0">
                <a:solidFill>
                  <a:srgbClr val="5B6B82"/>
                </a:solidFill>
                <a:latin typeface="Arial" pitchFamily="34" charset="0"/>
                <a:ea typeface="Arial" pitchFamily="34" charset="-122"/>
                <a:cs typeface="Arial" pitchFamily="34" charset="-120"/>
              </a:rPr>
              <a:t>SHAP — each dot is one applicant; spread shows a feature’s pull on the prediction.</a:t>
            </a:r>
            <a:endParaRPr lang="en-US" sz="1800" dirty="0"/>
          </a:p>
        </p:txBody>
      </p:sp>
      <p:sp>
        <p:nvSpPr>
          <p:cNvPr id="7" name="Shape 4"/>
          <p:cNvSpPr/>
          <p:nvPr/>
        </p:nvSpPr>
        <p:spPr>
          <a:xfrm>
            <a:off x="9845873" y="3660577"/>
            <a:ext cx="114300" cy="114300"/>
          </a:xfrm>
          <a:prstGeom prst="roundRect">
            <a:avLst>
              <a:gd name="adj" fmla="val 25000"/>
            </a:avLst>
          </a:prstGeom>
          <a:solidFill>
            <a:srgbClr val="1F9E8F"/>
          </a:solidFill>
          <a:ln/>
        </p:spPr>
      </p:sp>
      <p:sp>
        <p:nvSpPr>
          <p:cNvPr id="8" name="Text 5"/>
          <p:cNvSpPr/>
          <p:nvPr/>
        </p:nvSpPr>
        <p:spPr>
          <a:xfrm>
            <a:off x="10112573" y="3555802"/>
            <a:ext cx="7439614" cy="82093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4658"/>
                </a:solidFill>
                <a:latin typeface="Arial" pitchFamily="34" charset="0"/>
                <a:ea typeface="Arial" pitchFamily="34" charset="-122"/>
                <a:cs typeface="Arial" pitchFamily="34" charset="-120"/>
              </a:rPr>
              <a:t>The three </a:t>
            </a:r>
            <a:pPr algn="l" indent="0" marL="0">
              <a:lnSpc>
                <a:spcPct val="145000"/>
              </a:lnSpc>
              <a:buNone/>
            </a:pPr>
            <a:r>
              <a:rPr lang="en-US" sz="2100" b="1" dirty="0">
                <a:solidFill>
                  <a:srgbClr val="16243F"/>
                </a:solidFill>
                <a:latin typeface="Arial" pitchFamily="34" charset="0"/>
                <a:ea typeface="Arial" pitchFamily="34" charset="-122"/>
                <a:cs typeface="Arial" pitchFamily="34" charset="-120"/>
              </a:rPr>
              <a:t>external credit scores </a:t>
            </a:r>
            <a:pPr algn="l" indent="0" marL="0">
              <a:lnSpc>
                <a:spcPct val="145000"/>
              </a:lnSpc>
              <a:buNone/>
            </a:pPr>
            <a:r>
              <a:rPr lang="en-US" sz="2100" dirty="0">
                <a:solidFill>
                  <a:srgbClr val="3A4658"/>
                </a:solidFill>
                <a:latin typeface="Arial" pitchFamily="34" charset="0"/>
                <a:ea typeface="Arial" pitchFamily="34" charset="-122"/>
                <a:cs typeface="Arial" pitchFamily="34" charset="-120"/>
              </a:rPr>
              <a:t>dominate — like bureau scores in real banks.</a:t>
            </a:r>
            <a:endParaRPr lang="en-US" sz="2100" dirty="0"/>
          </a:p>
        </p:txBody>
      </p:sp>
      <p:sp>
        <p:nvSpPr>
          <p:cNvPr id="9" name="Shape 6"/>
          <p:cNvSpPr/>
          <p:nvPr/>
        </p:nvSpPr>
        <p:spPr>
          <a:xfrm>
            <a:off x="9845873" y="4672013"/>
            <a:ext cx="114300" cy="114300"/>
          </a:xfrm>
          <a:prstGeom prst="roundRect">
            <a:avLst>
              <a:gd name="adj" fmla="val 25000"/>
            </a:avLst>
          </a:prstGeom>
          <a:solidFill>
            <a:srgbClr val="1F9E8F"/>
          </a:solidFill>
          <a:ln/>
        </p:spPr>
      </p:sp>
      <p:sp>
        <p:nvSpPr>
          <p:cNvPr id="10" name="Text 7"/>
          <p:cNvSpPr/>
          <p:nvPr/>
        </p:nvSpPr>
        <p:spPr>
          <a:xfrm>
            <a:off x="10112573" y="4567238"/>
            <a:ext cx="7439614" cy="82093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4658"/>
                </a:solidFill>
                <a:latin typeface="Arial" pitchFamily="34" charset="0"/>
                <a:ea typeface="Arial" pitchFamily="34" charset="-122"/>
                <a:cs typeface="Arial" pitchFamily="34" charset="-120"/>
              </a:rPr>
              <a:t>My engineered </a:t>
            </a:r>
            <a:pPr algn="l" indent="0" marL="0">
              <a:lnSpc>
                <a:spcPct val="145000"/>
              </a:lnSpc>
              <a:buNone/>
            </a:pPr>
            <a:r>
              <a:rPr lang="en-US" sz="2100" b="1" dirty="0">
                <a:solidFill>
                  <a:srgbClr val="16243F"/>
                </a:solidFill>
                <a:latin typeface="Arial" pitchFamily="34" charset="0"/>
                <a:ea typeface="Arial" pitchFamily="34" charset="-122"/>
                <a:cs typeface="Arial" pitchFamily="34" charset="-120"/>
              </a:rPr>
              <a:t>banking ratios </a:t>
            </a:r>
            <a:pPr algn="l" indent="0" marL="0">
              <a:lnSpc>
                <a:spcPct val="145000"/>
              </a:lnSpc>
              <a:buNone/>
            </a:pPr>
            <a:r>
              <a:rPr lang="en-US" sz="2100" dirty="0">
                <a:solidFill>
                  <a:srgbClr val="3A4658"/>
                </a:solidFill>
                <a:latin typeface="Arial" pitchFamily="34" charset="0"/>
                <a:ea typeface="Arial" pitchFamily="34" charset="-122"/>
                <a:cs typeface="Arial" pitchFamily="34" charset="-120"/>
              </a:rPr>
              <a:t>— payment rate, annuity/income — also rank high.</a:t>
            </a:r>
            <a:endParaRPr lang="en-US" sz="2100" dirty="0"/>
          </a:p>
        </p:txBody>
      </p:sp>
      <p:sp>
        <p:nvSpPr>
          <p:cNvPr id="11" name="Shape 8"/>
          <p:cNvSpPr/>
          <p:nvPr/>
        </p:nvSpPr>
        <p:spPr>
          <a:xfrm>
            <a:off x="9845873" y="5683448"/>
            <a:ext cx="114300" cy="114300"/>
          </a:xfrm>
          <a:prstGeom prst="roundRect">
            <a:avLst>
              <a:gd name="adj" fmla="val 25000"/>
            </a:avLst>
          </a:prstGeom>
          <a:solidFill>
            <a:srgbClr val="1F9E8F"/>
          </a:solidFill>
          <a:ln/>
        </p:spPr>
      </p:sp>
      <p:sp>
        <p:nvSpPr>
          <p:cNvPr id="12" name="Text 9"/>
          <p:cNvSpPr/>
          <p:nvPr/>
        </p:nvSpPr>
        <p:spPr>
          <a:xfrm>
            <a:off x="10112573" y="5578673"/>
            <a:ext cx="7439614" cy="82093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A4658"/>
                </a:solidFill>
                <a:latin typeface="Arial" pitchFamily="34" charset="0"/>
                <a:ea typeface="Arial" pitchFamily="34" charset="-122"/>
                <a:cs typeface="Arial" pitchFamily="34" charset="-120"/>
              </a:rPr>
              <a:t>Weak on their own, but real signal inside the model — </a:t>
            </a:r>
            <a:pPr algn="l" indent="0" marL="0">
              <a:lnSpc>
                <a:spcPct val="145000"/>
              </a:lnSpc>
              <a:buNone/>
            </a:pPr>
            <a:r>
              <a:rPr lang="en-US" sz="2100" b="1" dirty="0">
                <a:solidFill>
                  <a:srgbClr val="16243F"/>
                </a:solidFill>
                <a:latin typeface="Arial" pitchFamily="34" charset="0"/>
                <a:ea typeface="Arial" pitchFamily="34" charset="-122"/>
                <a:cs typeface="Arial" pitchFamily="34" charset="-120"/>
              </a:rPr>
              <a:t>feature engineering paid off</a:t>
            </a:r>
            <a:pPr algn="l" indent="0" marL="0">
              <a:lnSpc>
                <a:spcPct val="145000"/>
              </a:lnSpc>
              <a:buNone/>
            </a:pPr>
            <a:r>
              <a:rPr lang="en-US" sz="2100" dirty="0">
                <a:solidFill>
                  <a:srgbClr val="3A4658"/>
                </a:solidFill>
                <a:latin typeface="Arial" pitchFamily="34" charset="0"/>
                <a:ea typeface="Arial" pitchFamily="34" charset="-122"/>
                <a:cs typeface="Arial" pitchFamily="34" charset="-120"/>
              </a:rPr>
              <a:t>.</a:t>
            </a:r>
            <a:endParaRPr lang="en-US" sz="2100" dirty="0"/>
          </a:p>
        </p:txBody>
      </p:sp>
      <p:sp>
        <p:nvSpPr>
          <p:cNvPr id="13" name="Shape 10"/>
          <p:cNvSpPr/>
          <p:nvPr/>
        </p:nvSpPr>
        <p:spPr>
          <a:xfrm>
            <a:off x="9845873" y="6590109"/>
            <a:ext cx="7489627" cy="806648"/>
          </a:xfrm>
          <a:prstGeom prst="roundRect">
            <a:avLst>
              <a:gd name="adj" fmla="val 16531"/>
            </a:avLst>
          </a:prstGeom>
          <a:solidFill>
            <a:srgbClr val="EAFAF6"/>
          </a:solidFill>
          <a:ln w="9525">
            <a:solidFill>
              <a:srgbClr val="BFE9E1"/>
            </a:solidFill>
            <a:prstDash val="solid"/>
          </a:ln>
        </p:spPr>
      </p:sp>
      <p:sp>
        <p:nvSpPr>
          <p:cNvPr id="14" name="Text 11"/>
          <p:cNvSpPr/>
          <p:nvPr/>
        </p:nvSpPr>
        <p:spPr>
          <a:xfrm>
            <a:off x="10122098" y="6809184"/>
            <a:ext cx="7145292" cy="40659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16243F"/>
                </a:solidFill>
                <a:latin typeface="Arial" pitchFamily="34" charset="0"/>
                <a:ea typeface="Arial" pitchFamily="34" charset="-122"/>
                <a:cs typeface="Arial" pitchFamily="34" charset="-120"/>
              </a:rPr>
              <a:t>These same factors power the </a:t>
            </a:r>
            <a:pPr algn="l" indent="0" marL="0">
              <a:lnSpc>
                <a:spcPct val="145000"/>
              </a:lnSpc>
              <a:buNone/>
            </a:pPr>
            <a:r>
              <a:rPr lang="en-US" sz="1950" b="1" dirty="0">
                <a:solidFill>
                  <a:srgbClr val="16243F"/>
                </a:solidFill>
                <a:latin typeface="Arial" pitchFamily="34" charset="0"/>
                <a:ea typeface="Arial" pitchFamily="34" charset="-122"/>
                <a:cs typeface="Arial" pitchFamily="34" charset="-120"/>
              </a:rPr>
              <a:t>“Why this score” </a:t>
            </a:r>
            <a:pPr algn="l" indent="0" marL="0">
              <a:lnSpc>
                <a:spcPct val="145000"/>
              </a:lnSpc>
              <a:buNone/>
            </a:pPr>
            <a:r>
              <a:rPr lang="en-US" sz="1950" dirty="0">
                <a:solidFill>
                  <a:srgbClr val="16243F"/>
                </a:solidFill>
                <a:latin typeface="Arial" pitchFamily="34" charset="0"/>
                <a:ea typeface="Arial" pitchFamily="34" charset="-122"/>
                <a:cs typeface="Arial" pitchFamily="34" charset="-120"/>
              </a:rPr>
              <a:t>list in AVAL.</a:t>
            </a:r>
            <a:endParaRPr lang="en-US" sz="1950" dirty="0"/>
          </a:p>
        </p:txBody>
      </p:sp>
      <p:sp>
        <p:nvSpPr>
          <p:cNvPr id="15" name="Shape 12"/>
          <p:cNvSpPr/>
          <p:nvPr/>
        </p:nvSpPr>
        <p:spPr>
          <a:xfrm>
            <a:off x="952500" y="9267825"/>
            <a:ext cx="16383000" cy="9525"/>
          </a:xfrm>
          <a:prstGeom prst="rect">
            <a:avLst/>
          </a:prstGeom>
          <a:solidFill>
            <a:srgbClr val="E2E7EE"/>
          </a:solidFill>
          <a:ln/>
        </p:spPr>
      </p:sp>
      <p:sp>
        <p:nvSpPr>
          <p:cNvPr id="16" name="Text 13"/>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17" name="Text 14"/>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04850"/>
            <a:ext cx="16874490" cy="3429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1F9E8F"/>
                </a:solidFill>
                <a:latin typeface="Arial" pitchFamily="34" charset="0"/>
                <a:ea typeface="Arial" pitchFamily="34" charset="-122"/>
                <a:cs typeface="Arial" pitchFamily="34" charset="-120"/>
              </a:rPr>
              <a:t>CONCLUSION</a:t>
            </a:r>
            <a:endParaRPr lang="en-US" sz="1800" dirty="0"/>
          </a:p>
        </p:txBody>
      </p:sp>
      <p:sp>
        <p:nvSpPr>
          <p:cNvPr id="3" name="Text 1"/>
          <p:cNvSpPr/>
          <p:nvPr/>
        </p:nvSpPr>
        <p:spPr>
          <a:xfrm>
            <a:off x="952500" y="1104900"/>
            <a:ext cx="16874490" cy="618083"/>
          </a:xfrm>
          <a:prstGeom prst="rect">
            <a:avLst/>
          </a:prstGeom>
          <a:noFill/>
          <a:ln/>
        </p:spPr>
        <p:txBody>
          <a:bodyPr wrap="square" lIns="25400" tIns="25400" rIns="25400" bIns="25400" rtlCol="0" anchor="t">
            <a:normAutofit/>
          </a:bodyPr>
          <a:lstStyle/>
          <a:p>
            <a:pPr algn="l" indent="0" marL="0">
              <a:lnSpc>
                <a:spcPct val="105000"/>
              </a:lnSpc>
              <a:buNone/>
            </a:pPr>
            <a:r>
              <a:rPr lang="en-US" sz="4350" b="1" spc="-43" kern="0" dirty="0">
                <a:solidFill>
                  <a:srgbClr val="16243F"/>
                </a:solidFill>
                <a:latin typeface="Arial" pitchFamily="34" charset="0"/>
                <a:ea typeface="Arial" pitchFamily="34" charset="-122"/>
                <a:cs typeface="Arial" pitchFamily="34" charset="-120"/>
              </a:rPr>
              <a:t>What the answer is</a:t>
            </a:r>
            <a:endParaRPr lang="en-US" sz="4350" dirty="0"/>
          </a:p>
        </p:txBody>
      </p:sp>
      <p:sp>
        <p:nvSpPr>
          <p:cNvPr id="4" name="Text 2"/>
          <p:cNvSpPr/>
          <p:nvPr/>
        </p:nvSpPr>
        <p:spPr>
          <a:xfrm>
            <a:off x="952500" y="3705820"/>
            <a:ext cx="590550"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1F9E8F"/>
                </a:solidFill>
                <a:latin typeface="Courier New" pitchFamily="34" charset="0"/>
                <a:ea typeface="Courier New" pitchFamily="34" charset="-122"/>
                <a:cs typeface="Courier New" pitchFamily="34" charset="-120"/>
              </a:rPr>
              <a:t>01</a:t>
            </a:r>
            <a:endParaRPr lang="en-US" sz="2550" dirty="0"/>
          </a:p>
        </p:txBody>
      </p:sp>
      <p:sp>
        <p:nvSpPr>
          <p:cNvPr id="5" name="Text 3"/>
          <p:cNvSpPr/>
          <p:nvPr/>
        </p:nvSpPr>
        <p:spPr>
          <a:xfrm>
            <a:off x="1733550" y="3705820"/>
            <a:ext cx="9472279" cy="487561"/>
          </a:xfrm>
          <a:prstGeom prst="rect">
            <a:avLst/>
          </a:prstGeom>
          <a:noFill/>
          <a:ln/>
        </p:spPr>
        <p:txBody>
          <a:bodyPr wrap="square" lIns="25400" tIns="25400" rIns="25400" bIns="25400" rtlCol="0" anchor="t">
            <a:normAutofit/>
          </a:bodyPr>
          <a:lstStyle/>
          <a:p>
            <a:pPr algn="l" indent="0" marL="0">
              <a:lnSpc>
                <a:spcPct val="140000"/>
              </a:lnSpc>
              <a:buNone/>
            </a:pPr>
            <a:r>
              <a:rPr lang="en-US" sz="2475" dirty="0">
                <a:solidFill>
                  <a:srgbClr val="2A3548"/>
                </a:solidFill>
                <a:latin typeface="Arial" pitchFamily="34" charset="0"/>
                <a:ea typeface="Arial" pitchFamily="34" charset="-122"/>
                <a:cs typeface="Arial" pitchFamily="34" charset="-120"/>
              </a:rPr>
              <a:t>ML gives only a </a:t>
            </a:r>
            <a:pPr algn="l" indent="0" marL="0">
              <a:lnSpc>
                <a:spcPct val="140000"/>
              </a:lnSpc>
              <a:buNone/>
            </a:pPr>
            <a:r>
              <a:rPr lang="en-US" sz="2475" b="1" dirty="0">
                <a:solidFill>
                  <a:srgbClr val="16243F"/>
                </a:solidFill>
                <a:latin typeface="Arial" pitchFamily="34" charset="0"/>
                <a:ea typeface="Arial" pitchFamily="34" charset="-122"/>
                <a:cs typeface="Arial" pitchFamily="34" charset="-120"/>
              </a:rPr>
              <a:t>marginal gain </a:t>
            </a:r>
            <a:pPr algn="l" indent="0" marL="0">
              <a:lnSpc>
                <a:spcPct val="140000"/>
              </a:lnSpc>
              <a:buNone/>
            </a:pPr>
            <a:r>
              <a:rPr lang="en-US" sz="2475" dirty="0">
                <a:solidFill>
                  <a:srgbClr val="2A3548"/>
                </a:solidFill>
                <a:latin typeface="Arial" pitchFamily="34" charset="0"/>
                <a:ea typeface="Arial" pitchFamily="34" charset="-122"/>
                <a:cs typeface="Arial" pitchFamily="34" charset="-120"/>
              </a:rPr>
              <a:t>over a well-built logistic regression.</a:t>
            </a:r>
            <a:endParaRPr lang="en-US" sz="2475" dirty="0"/>
          </a:p>
        </p:txBody>
      </p:sp>
      <p:sp>
        <p:nvSpPr>
          <p:cNvPr id="6" name="Shape 4"/>
          <p:cNvSpPr/>
          <p:nvPr/>
        </p:nvSpPr>
        <p:spPr>
          <a:xfrm>
            <a:off x="952500" y="4441031"/>
            <a:ext cx="16383000" cy="9525"/>
          </a:xfrm>
          <a:prstGeom prst="rect">
            <a:avLst/>
          </a:prstGeom>
          <a:solidFill>
            <a:srgbClr val="E2E7EE"/>
          </a:solidFill>
          <a:ln/>
        </p:spPr>
      </p:sp>
      <p:sp>
        <p:nvSpPr>
          <p:cNvPr id="7" name="Text 5"/>
          <p:cNvSpPr/>
          <p:nvPr/>
        </p:nvSpPr>
        <p:spPr>
          <a:xfrm>
            <a:off x="952500" y="4736306"/>
            <a:ext cx="590550"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1F9E8F"/>
                </a:solidFill>
                <a:latin typeface="Courier New" pitchFamily="34" charset="0"/>
                <a:ea typeface="Courier New" pitchFamily="34" charset="-122"/>
                <a:cs typeface="Courier New" pitchFamily="34" charset="-120"/>
              </a:rPr>
              <a:t>02</a:t>
            </a:r>
            <a:endParaRPr lang="en-US" sz="2550" dirty="0"/>
          </a:p>
        </p:txBody>
      </p:sp>
      <p:sp>
        <p:nvSpPr>
          <p:cNvPr id="8" name="Text 6"/>
          <p:cNvSpPr/>
          <p:nvPr/>
        </p:nvSpPr>
        <p:spPr>
          <a:xfrm>
            <a:off x="1733550" y="4736306"/>
            <a:ext cx="14149401" cy="487561"/>
          </a:xfrm>
          <a:prstGeom prst="rect">
            <a:avLst/>
          </a:prstGeom>
          <a:noFill/>
          <a:ln/>
        </p:spPr>
        <p:txBody>
          <a:bodyPr wrap="square" lIns="25400" tIns="25400" rIns="25400" bIns="25400" rtlCol="0" anchor="t">
            <a:normAutofit/>
          </a:bodyPr>
          <a:lstStyle/>
          <a:p>
            <a:pPr algn="l" indent="0" marL="0">
              <a:lnSpc>
                <a:spcPct val="140000"/>
              </a:lnSpc>
              <a:buNone/>
            </a:pPr>
            <a:r>
              <a:rPr lang="en-US" sz="2475" b="1" dirty="0">
                <a:solidFill>
                  <a:srgbClr val="16243F"/>
                </a:solidFill>
                <a:latin typeface="Arial" pitchFamily="34" charset="0"/>
                <a:ea typeface="Arial" pitchFamily="34" charset="-122"/>
                <a:cs typeface="Arial" pitchFamily="34" charset="-120"/>
              </a:rPr>
              <a:t>Data prep, honest imbalance handling and feature engineering </a:t>
            </a:r>
            <a:pPr algn="l" indent="0" marL="0">
              <a:lnSpc>
                <a:spcPct val="140000"/>
              </a:lnSpc>
              <a:buNone/>
            </a:pPr>
            <a:r>
              <a:rPr lang="en-US" sz="2475" dirty="0">
                <a:solidFill>
                  <a:srgbClr val="2A3548"/>
                </a:solidFill>
                <a:latin typeface="Arial" pitchFamily="34" charset="0"/>
                <a:ea typeface="Arial" pitchFamily="34" charset="-122"/>
                <a:cs typeface="Arial" pitchFamily="34" charset="-120"/>
              </a:rPr>
              <a:t>matter as much as the algorithm.</a:t>
            </a:r>
            <a:endParaRPr lang="en-US" sz="2475" dirty="0"/>
          </a:p>
        </p:txBody>
      </p:sp>
      <p:sp>
        <p:nvSpPr>
          <p:cNvPr id="9" name="Shape 7"/>
          <p:cNvSpPr/>
          <p:nvPr/>
        </p:nvSpPr>
        <p:spPr>
          <a:xfrm>
            <a:off x="952500" y="5471517"/>
            <a:ext cx="16383000" cy="9525"/>
          </a:xfrm>
          <a:prstGeom prst="rect">
            <a:avLst/>
          </a:prstGeom>
          <a:solidFill>
            <a:srgbClr val="E2E7EE"/>
          </a:solidFill>
          <a:ln/>
        </p:spPr>
      </p:sp>
      <p:sp>
        <p:nvSpPr>
          <p:cNvPr id="10" name="Text 8"/>
          <p:cNvSpPr/>
          <p:nvPr/>
        </p:nvSpPr>
        <p:spPr>
          <a:xfrm>
            <a:off x="952500" y="5766792"/>
            <a:ext cx="590550"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1F9E8F"/>
                </a:solidFill>
                <a:latin typeface="Courier New" pitchFamily="34" charset="0"/>
                <a:ea typeface="Courier New" pitchFamily="34" charset="-122"/>
                <a:cs typeface="Courier New" pitchFamily="34" charset="-120"/>
              </a:rPr>
              <a:t>03</a:t>
            </a:r>
            <a:endParaRPr lang="en-US" sz="2550" dirty="0"/>
          </a:p>
        </p:txBody>
      </p:sp>
      <p:sp>
        <p:nvSpPr>
          <p:cNvPr id="11" name="Text 9"/>
          <p:cNvSpPr/>
          <p:nvPr/>
        </p:nvSpPr>
        <p:spPr>
          <a:xfrm>
            <a:off x="1733550" y="5766792"/>
            <a:ext cx="12865419" cy="487561"/>
          </a:xfrm>
          <a:prstGeom prst="rect">
            <a:avLst/>
          </a:prstGeom>
          <a:noFill/>
          <a:ln/>
        </p:spPr>
        <p:txBody>
          <a:bodyPr wrap="square" lIns="25400" tIns="25400" rIns="25400" bIns="25400" rtlCol="0" anchor="t">
            <a:normAutofit/>
          </a:bodyPr>
          <a:lstStyle/>
          <a:p>
            <a:pPr algn="l" indent="0" marL="0">
              <a:lnSpc>
                <a:spcPct val="140000"/>
              </a:lnSpc>
              <a:buNone/>
            </a:pPr>
            <a:r>
              <a:rPr lang="en-US" sz="2475" dirty="0">
                <a:solidFill>
                  <a:srgbClr val="2A3548"/>
                </a:solidFill>
                <a:latin typeface="Arial" pitchFamily="34" charset="0"/>
                <a:ea typeface="Arial" pitchFamily="34" charset="-122"/>
                <a:cs typeface="Arial" pitchFamily="34" charset="-120"/>
              </a:rPr>
              <a:t>In regulated banking, an </a:t>
            </a:r>
            <a:pPr algn="l" indent="0" marL="0">
              <a:lnSpc>
                <a:spcPct val="140000"/>
              </a:lnSpc>
              <a:buNone/>
            </a:pPr>
            <a:r>
              <a:rPr lang="en-US" sz="2475" b="1" dirty="0">
                <a:solidFill>
                  <a:srgbClr val="16243F"/>
                </a:solidFill>
                <a:latin typeface="Arial" pitchFamily="34" charset="0"/>
                <a:ea typeface="Arial" pitchFamily="34" charset="-122"/>
                <a:cs typeface="Arial" pitchFamily="34" charset="-120"/>
              </a:rPr>
              <a:t>explainable model </a:t>
            </a:r>
            <a:pPr algn="l" indent="0" marL="0">
              <a:lnSpc>
                <a:spcPct val="140000"/>
              </a:lnSpc>
              <a:buNone/>
            </a:pPr>
            <a:r>
              <a:rPr lang="en-US" sz="2475" dirty="0">
                <a:solidFill>
                  <a:srgbClr val="2A3548"/>
                </a:solidFill>
                <a:latin typeface="Arial" pitchFamily="34" charset="0"/>
                <a:ea typeface="Arial" pitchFamily="34" charset="-122"/>
                <a:cs typeface="Arial" pitchFamily="34" charset="-120"/>
              </a:rPr>
              <a:t>can be worth more than a tiny accuracy gain.</a:t>
            </a:r>
            <a:endParaRPr lang="en-US" sz="2475" dirty="0"/>
          </a:p>
        </p:txBody>
      </p:sp>
      <p:sp>
        <p:nvSpPr>
          <p:cNvPr id="12" name="Shape 10"/>
          <p:cNvSpPr/>
          <p:nvPr/>
        </p:nvSpPr>
        <p:spPr>
          <a:xfrm>
            <a:off x="952500" y="6502003"/>
            <a:ext cx="16383000" cy="9525"/>
          </a:xfrm>
          <a:prstGeom prst="rect">
            <a:avLst/>
          </a:prstGeom>
          <a:solidFill>
            <a:srgbClr val="E2E7EE"/>
          </a:solidFill>
          <a:ln/>
        </p:spPr>
      </p:sp>
      <p:sp>
        <p:nvSpPr>
          <p:cNvPr id="13" name="Text 11"/>
          <p:cNvSpPr/>
          <p:nvPr/>
        </p:nvSpPr>
        <p:spPr>
          <a:xfrm>
            <a:off x="952500" y="6797278"/>
            <a:ext cx="590550"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1F9E8F"/>
                </a:solidFill>
                <a:latin typeface="Courier New" pitchFamily="34" charset="0"/>
                <a:ea typeface="Courier New" pitchFamily="34" charset="-122"/>
                <a:cs typeface="Courier New" pitchFamily="34" charset="-120"/>
              </a:rPr>
              <a:t>04</a:t>
            </a:r>
            <a:endParaRPr lang="en-US" sz="2550" dirty="0"/>
          </a:p>
        </p:txBody>
      </p:sp>
      <p:sp>
        <p:nvSpPr>
          <p:cNvPr id="14" name="Text 12"/>
          <p:cNvSpPr/>
          <p:nvPr/>
        </p:nvSpPr>
        <p:spPr>
          <a:xfrm>
            <a:off x="1733550" y="6797278"/>
            <a:ext cx="10405987" cy="487561"/>
          </a:xfrm>
          <a:prstGeom prst="rect">
            <a:avLst/>
          </a:prstGeom>
          <a:noFill/>
          <a:ln/>
        </p:spPr>
        <p:txBody>
          <a:bodyPr wrap="square" lIns="25400" tIns="25400" rIns="25400" bIns="25400" rtlCol="0" anchor="t">
            <a:normAutofit/>
          </a:bodyPr>
          <a:lstStyle/>
          <a:p>
            <a:pPr algn="l" indent="0" marL="0">
              <a:lnSpc>
                <a:spcPct val="140000"/>
              </a:lnSpc>
              <a:buNone/>
            </a:pPr>
            <a:r>
              <a:rPr lang="en-US" sz="2475" b="1" dirty="0">
                <a:solidFill>
                  <a:srgbClr val="16243F"/>
                </a:solidFill>
                <a:latin typeface="Arial" pitchFamily="34" charset="0"/>
                <a:ea typeface="Arial" pitchFamily="34" charset="-122"/>
                <a:cs typeface="Arial" pitchFamily="34" charset="-120"/>
              </a:rPr>
              <a:t>AVAL </a:t>
            </a:r>
            <a:pPr algn="l" indent="0" marL="0">
              <a:lnSpc>
                <a:spcPct val="140000"/>
              </a:lnSpc>
              <a:buNone/>
            </a:pPr>
            <a:r>
              <a:rPr lang="en-US" sz="2475" dirty="0">
                <a:solidFill>
                  <a:srgbClr val="2A3548"/>
                </a:solidFill>
                <a:latin typeface="Arial" pitchFamily="34" charset="0"/>
                <a:ea typeface="Arial" pitchFamily="34" charset="-122"/>
                <a:cs typeface="Arial" pitchFamily="34" charset="-120"/>
              </a:rPr>
              <a:t>turns the result into practice — a working, explainable scoring app.</a:t>
            </a:r>
            <a:endParaRPr lang="en-US" sz="2475" dirty="0"/>
          </a:p>
        </p:txBody>
      </p:sp>
      <p:sp>
        <p:nvSpPr>
          <p:cNvPr id="15" name="Shape 13"/>
          <p:cNvSpPr/>
          <p:nvPr/>
        </p:nvSpPr>
        <p:spPr>
          <a:xfrm>
            <a:off x="952500" y="9267825"/>
            <a:ext cx="16383000" cy="9525"/>
          </a:xfrm>
          <a:prstGeom prst="rect">
            <a:avLst/>
          </a:prstGeom>
          <a:solidFill>
            <a:srgbClr val="E2E7EE"/>
          </a:solidFill>
          <a:ln/>
        </p:spPr>
      </p:sp>
      <p:sp>
        <p:nvSpPr>
          <p:cNvPr id="16" name="Text 14"/>
          <p:cNvSpPr/>
          <p:nvPr/>
        </p:nvSpPr>
        <p:spPr>
          <a:xfrm>
            <a:off x="952500" y="95059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B6B82"/>
                </a:solidFill>
                <a:latin typeface="Arial" pitchFamily="34" charset="0"/>
                <a:ea typeface="Arial" pitchFamily="34" charset="-122"/>
                <a:cs typeface="Arial" pitchFamily="34" charset="-120"/>
              </a:rPr>
              <a:t>Batuhan Şen · 200527078 · İstinye University</a:t>
            </a:r>
            <a:endParaRPr lang="en-US" sz="1800" dirty="0"/>
          </a:p>
        </p:txBody>
      </p:sp>
      <p:sp>
        <p:nvSpPr>
          <p:cNvPr id="17" name="Text 15"/>
          <p:cNvSpPr/>
          <p:nvPr/>
        </p:nvSpPr>
        <p:spPr>
          <a:xfrm>
            <a:off x="17061061" y="94869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F9E8F"/>
                </a:solidFill>
                <a:latin typeface="Courier New" pitchFamily="34" charset="0"/>
                <a:ea typeface="Courier New" pitchFamily="34" charset="-122"/>
                <a:cs typeface="Courier New"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8877300" y="3581400"/>
            <a:ext cx="533400" cy="28575"/>
          </a:xfrm>
          <a:prstGeom prst="rect">
            <a:avLst/>
          </a:prstGeom>
          <a:solidFill>
            <a:srgbClr val="1F9E8F"/>
          </a:solidFill>
          <a:ln/>
        </p:spPr>
      </p:sp>
      <p:sp>
        <p:nvSpPr>
          <p:cNvPr id="3" name="Text 1"/>
          <p:cNvSpPr/>
          <p:nvPr/>
        </p:nvSpPr>
        <p:spPr>
          <a:xfrm>
            <a:off x="6849973" y="3952875"/>
            <a:ext cx="4587905" cy="1171575"/>
          </a:xfrm>
          <a:prstGeom prst="rect">
            <a:avLst/>
          </a:prstGeom>
          <a:noFill/>
          <a:ln/>
        </p:spPr>
        <p:txBody>
          <a:bodyPr wrap="square" lIns="25400" tIns="25400" rIns="25400" bIns="25400" rtlCol="0" anchor="t">
            <a:normAutofit/>
          </a:bodyPr>
          <a:lstStyle/>
          <a:p>
            <a:pPr algn="ctr" indent="0" marL="0">
              <a:buNone/>
            </a:pPr>
            <a:r>
              <a:rPr lang="en-US" sz="6900" dirty="0">
                <a:solidFill>
                  <a:srgbClr val="FFFFFF"/>
                </a:solidFill>
                <a:latin typeface="Georgia" pitchFamily="34" charset="0"/>
                <a:ea typeface="Georgia" pitchFamily="34" charset="-122"/>
                <a:cs typeface="Georgia" pitchFamily="34" charset="-120"/>
              </a:rPr>
              <a:t>Thank you</a:t>
            </a:r>
            <a:endParaRPr lang="en-US" sz="6900" dirty="0"/>
          </a:p>
        </p:txBody>
      </p:sp>
      <p:sp>
        <p:nvSpPr>
          <p:cNvPr id="4" name="Text 2"/>
          <p:cNvSpPr/>
          <p:nvPr/>
        </p:nvSpPr>
        <p:spPr>
          <a:xfrm>
            <a:off x="6747111" y="5372100"/>
            <a:ext cx="4793778" cy="361950"/>
          </a:xfrm>
          <a:prstGeom prst="rect">
            <a:avLst/>
          </a:prstGeom>
          <a:noFill/>
          <a:ln/>
        </p:spPr>
        <p:txBody>
          <a:bodyPr wrap="square" lIns="25400" tIns="25400" rIns="25400" bIns="25400" rtlCol="0" anchor="t">
            <a:normAutofit/>
          </a:bodyPr>
          <a:lstStyle/>
          <a:p>
            <a:pPr algn="ctr" indent="0" marL="0">
              <a:buNone/>
            </a:pPr>
            <a:r>
              <a:rPr lang="en-US" sz="2250" dirty="0">
                <a:solidFill>
                  <a:srgbClr val="FFFFFF">
                    <a:alpha val="80000"/>
                  </a:srgbClr>
                </a:solidFill>
                <a:latin typeface="Arial" pitchFamily="34" charset="0"/>
                <a:ea typeface="Arial" pitchFamily="34" charset="-122"/>
                <a:cs typeface="Arial" pitchFamily="34" charset="-120"/>
              </a:rPr>
              <a:t>I am happy to answer any questions.</a:t>
            </a:r>
            <a:endParaRPr lang="en-US" sz="2250" dirty="0"/>
          </a:p>
        </p:txBody>
      </p:sp>
      <p:sp>
        <p:nvSpPr>
          <p:cNvPr id="5" name="Text 3"/>
          <p:cNvSpPr/>
          <p:nvPr/>
        </p:nvSpPr>
        <p:spPr>
          <a:xfrm>
            <a:off x="6203454" y="6134100"/>
            <a:ext cx="1651397" cy="390525"/>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Batuhan Şen</a:t>
            </a:r>
            <a:endParaRPr lang="en-US" sz="2100" dirty="0"/>
          </a:p>
        </p:txBody>
      </p:sp>
      <p:sp>
        <p:nvSpPr>
          <p:cNvPr id="6" name="Shape 4"/>
          <p:cNvSpPr/>
          <p:nvPr/>
        </p:nvSpPr>
        <p:spPr>
          <a:xfrm>
            <a:off x="8007251" y="6281738"/>
            <a:ext cx="57150" cy="57150"/>
          </a:xfrm>
          <a:prstGeom prst="ellipse">
            <a:avLst/>
          </a:prstGeom>
          <a:solidFill>
            <a:srgbClr val="1F9E8F"/>
          </a:solidFill>
          <a:ln/>
        </p:spPr>
      </p:sp>
      <p:sp>
        <p:nvSpPr>
          <p:cNvPr id="7" name="Text 5"/>
          <p:cNvSpPr/>
          <p:nvPr/>
        </p:nvSpPr>
        <p:spPr>
          <a:xfrm>
            <a:off x="8216801" y="6167438"/>
            <a:ext cx="1413867" cy="323850"/>
          </a:xfrm>
          <a:prstGeom prst="rect">
            <a:avLst/>
          </a:prstGeom>
          <a:noFill/>
          <a:ln/>
        </p:spPr>
        <p:txBody>
          <a:bodyPr wrap="square" lIns="25400" tIns="25400" rIns="25400" bIns="25400" rtlCol="0" anchor="t">
            <a:normAutofit/>
          </a:bodyPr>
          <a:lstStyle/>
          <a:p>
            <a:pPr algn="ctr" indent="0" marL="0">
              <a:buNone/>
            </a:pPr>
            <a:r>
              <a:rPr lang="en-US" sz="1950" dirty="0">
                <a:solidFill>
                  <a:srgbClr val="7FD8CC"/>
                </a:solidFill>
                <a:latin typeface="Courier New" pitchFamily="34" charset="0"/>
                <a:ea typeface="Courier New" pitchFamily="34" charset="-122"/>
                <a:cs typeface="Courier New" pitchFamily="34" charset="-120"/>
              </a:rPr>
              <a:t>200527078</a:t>
            </a:r>
            <a:endParaRPr lang="en-US" sz="1950" dirty="0"/>
          </a:p>
        </p:txBody>
      </p:sp>
      <p:sp>
        <p:nvSpPr>
          <p:cNvPr id="8" name="Shape 6"/>
          <p:cNvSpPr/>
          <p:nvPr/>
        </p:nvSpPr>
        <p:spPr>
          <a:xfrm>
            <a:off x="9783068" y="6281738"/>
            <a:ext cx="57150" cy="57150"/>
          </a:xfrm>
          <a:prstGeom prst="ellipse">
            <a:avLst/>
          </a:prstGeom>
          <a:solidFill>
            <a:srgbClr val="1F9E8F"/>
          </a:solidFill>
          <a:ln/>
        </p:spPr>
      </p:sp>
      <p:sp>
        <p:nvSpPr>
          <p:cNvPr id="9" name="Text 7"/>
          <p:cNvSpPr/>
          <p:nvPr/>
        </p:nvSpPr>
        <p:spPr>
          <a:xfrm>
            <a:off x="9992618" y="6157913"/>
            <a:ext cx="2091928" cy="342900"/>
          </a:xfrm>
          <a:prstGeom prst="rect">
            <a:avLst/>
          </a:prstGeom>
          <a:noFill/>
          <a:ln/>
        </p:spPr>
        <p:txBody>
          <a:bodyPr wrap="square" lIns="25400" tIns="25400" rIns="25400" bIns="25400" rtlCol="0" anchor="t">
            <a:normAutofit/>
          </a:bodyPr>
          <a:lstStyle/>
          <a:p>
            <a:pPr algn="ctr" indent="0" marL="0">
              <a:buNone/>
            </a:pPr>
            <a:r>
              <a:rPr lang="en-US" sz="2100" dirty="0">
                <a:solidFill>
                  <a:srgbClr val="FFFFFF">
                    <a:alpha val="80000"/>
                  </a:srgbClr>
                </a:solidFill>
                <a:latin typeface="Arial" pitchFamily="34" charset="0"/>
                <a:ea typeface="Arial" pitchFamily="34" charset="-122"/>
                <a:cs typeface="Arial" pitchFamily="34" charset="-120"/>
              </a:rPr>
              <a:t>İstinye University</a:t>
            </a:r>
            <a:endParaRPr lang="en-US" sz="2100" dirty="0"/>
          </a:p>
        </p:txBody>
      </p:sp>
      <p:sp>
        <p:nvSpPr>
          <p:cNvPr id="10" name="Shape 8"/>
          <p:cNvSpPr/>
          <p:nvPr/>
        </p:nvSpPr>
        <p:spPr>
          <a:xfrm>
            <a:off x="1047750" y="9210675"/>
            <a:ext cx="16192500" cy="9525"/>
          </a:xfrm>
          <a:prstGeom prst="rect">
            <a:avLst/>
          </a:prstGeom>
          <a:solidFill>
            <a:srgbClr val="FFFFFF">
              <a:alpha val="16000"/>
            </a:srgbClr>
          </a:solidFill>
          <a:ln/>
        </p:spPr>
      </p:sp>
      <p:sp>
        <p:nvSpPr>
          <p:cNvPr id="11" name="Text 9"/>
          <p:cNvSpPr/>
          <p:nvPr/>
        </p:nvSpPr>
        <p:spPr>
          <a:xfrm>
            <a:off x="1047750" y="9467850"/>
            <a:ext cx="473813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alpha val="55000"/>
                  </a:srgbClr>
                </a:solidFill>
                <a:latin typeface="Arial" pitchFamily="34" charset="0"/>
                <a:ea typeface="Arial" pitchFamily="34" charset="-122"/>
                <a:cs typeface="Arial" pitchFamily="34" charset="-120"/>
              </a:rPr>
              <a:t>Batuhan Şen · 200527078 · İstinye University</a:t>
            </a:r>
            <a:endParaRPr lang="en-US" sz="1800" dirty="0"/>
          </a:p>
        </p:txBody>
      </p:sp>
      <p:sp>
        <p:nvSpPr>
          <p:cNvPr id="12" name="Text 10"/>
          <p:cNvSpPr/>
          <p:nvPr/>
        </p:nvSpPr>
        <p:spPr>
          <a:xfrm>
            <a:off x="16965811" y="944880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FC3B2"/>
                </a:solidFill>
                <a:latin typeface="Courier New" pitchFamily="34" charset="0"/>
                <a:ea typeface="Courier New" pitchFamily="34" charset="-122"/>
                <a:cs typeface="Courier New" pitchFamily="34" charset="-120"/>
              </a:rPr>
              <a:t>13</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2026-06-09T21:50:11Z</dcterms:created>
  <dcterms:modified xsi:type="dcterms:W3CDTF">2026-06-09T21:50:11Z</dcterms:modified>
</cp:coreProperties>
</file>